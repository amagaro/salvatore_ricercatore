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895" r:id="rId2"/>
    <p:sldId id="905" r:id="rId3"/>
    <p:sldId id="904" r:id="rId4"/>
    <p:sldId id="890" r:id="rId5"/>
    <p:sldId id="906" r:id="rId6"/>
    <p:sldId id="909" r:id="rId7"/>
    <p:sldId id="879" r:id="rId8"/>
    <p:sldId id="899" r:id="rId9"/>
    <p:sldId id="894" r:id="rId10"/>
    <p:sldId id="876" r:id="rId11"/>
    <p:sldId id="878" r:id="rId12"/>
    <p:sldId id="881" r:id="rId13"/>
    <p:sldId id="886" r:id="rId14"/>
    <p:sldId id="888" r:id="rId15"/>
    <p:sldId id="882" r:id="rId16"/>
    <p:sldId id="893" r:id="rId17"/>
    <p:sldId id="903" r:id="rId18"/>
    <p:sldId id="910" r:id="rId19"/>
    <p:sldId id="907" r:id="rId20"/>
    <p:sldId id="897" r:id="rId21"/>
  </p:sldIdLst>
  <p:sldSz cx="9144000" cy="6858000" type="screen4x3"/>
  <p:notesSz cx="6797675" cy="9926638"/>
  <p:embeddedFontLst>
    <p:embeddedFont>
      <p:font typeface="HP Simplified Light" panose="020B0404020204020204" pitchFamily="34" charset="0"/>
      <p:regular r:id="rId24"/>
      <p:italic r:id="rId25"/>
    </p:embeddedFont>
  </p:embeddedFontLst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orient="horz" pos="3974" userDrawn="1">
          <p15:clr>
            <a:srgbClr val="A4A3A4"/>
          </p15:clr>
        </p15:guide>
        <p15:guide id="3" pos="5363" userDrawn="1">
          <p15:clr>
            <a:srgbClr val="A4A3A4"/>
          </p15:clr>
        </p15:guide>
        <p15:guide id="4" pos="385" userDrawn="1">
          <p15:clr>
            <a:srgbClr val="A4A3A4"/>
          </p15:clr>
        </p15:guide>
        <p15:guide id="7" orient="horz" pos="711" userDrawn="1">
          <p15:clr>
            <a:srgbClr val="A4A3A4"/>
          </p15:clr>
        </p15:guide>
        <p15:guide id="8" orient="horz" pos="9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9C72"/>
    <a:srgbClr val="E2EDEA"/>
    <a:srgbClr val="1B5197"/>
    <a:srgbClr val="8DD08C"/>
    <a:srgbClr val="C56719"/>
    <a:srgbClr val="E6893C"/>
    <a:srgbClr val="204262"/>
    <a:srgbClr val="75869A"/>
    <a:srgbClr val="849BB4"/>
    <a:srgbClr val="6B87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4" autoAdjust="0"/>
    <p:restoredTop sz="95033" autoAdjust="0"/>
  </p:normalViewPr>
  <p:slideViewPr>
    <p:cSldViewPr showGuides="1">
      <p:cViewPr varScale="1">
        <p:scale>
          <a:sx n="79" d="100"/>
          <a:sy n="79" d="100"/>
        </p:scale>
        <p:origin x="1589" y="72"/>
      </p:cViewPr>
      <p:guideLst>
        <p:guide orient="horz" pos="709"/>
        <p:guide orient="horz" pos="3974"/>
        <p:guide pos="5363"/>
        <p:guide pos="385"/>
        <p:guide orient="horz" pos="711"/>
        <p:guide orient="horz" pos="9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E3F3882E-9604-4084-B1B5-7C1747BA68A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774C83C1-E1A8-4EC1-AA0B-32B6A7393DB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863" y="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45291CBA-7A85-4C3D-AAF0-5A3D0980D2A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38A8E973-A1DB-4E5E-A66D-E7DA9208225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863" y="942975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72C68BA-DC73-45C9-8551-A661C127253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3942A43B-AA68-4DEF-B13D-C98CB175C7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3E72B3A-02AE-405C-B557-7CF65CD4869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E1CDBB3-66C6-47F9-A792-EF8717CE0691}" type="datetimeFigureOut">
              <a:rPr lang="it-IT"/>
              <a:pPr>
                <a:defRPr/>
              </a:pPr>
              <a:t>09/05/2025</a:t>
            </a:fld>
            <a:endParaRPr lang="it-IT"/>
          </a:p>
        </p:txBody>
      </p:sp>
      <p:sp>
        <p:nvSpPr>
          <p:cNvPr id="4" name="Segnaposto immagine diapositiva 3">
            <a:extLst>
              <a:ext uri="{FF2B5EF4-FFF2-40B4-BE49-F238E27FC236}">
                <a16:creationId xmlns:a16="http://schemas.microsoft.com/office/drawing/2014/main" id="{A9915100-E517-4292-8897-37E2B90139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it-IT" noProof="0"/>
          </a:p>
        </p:txBody>
      </p:sp>
      <p:sp>
        <p:nvSpPr>
          <p:cNvPr id="5" name="Segnaposto note 4">
            <a:extLst>
              <a:ext uri="{FF2B5EF4-FFF2-40B4-BE49-F238E27FC236}">
                <a16:creationId xmlns:a16="http://schemas.microsoft.com/office/drawing/2014/main" id="{97BDC7C9-48CB-489E-A823-9B0AB709F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6463"/>
            <a:ext cx="5438775" cy="4465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noProof="0"/>
              <a:t>Fare clic per modificare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E119D26-EC73-4FC2-9F66-A02716395CC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4431BE-97C4-48AD-8421-1F1FA87C2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7863964-F9E0-402A-B987-5A48562520F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E1409-FB83-63EF-401D-DF2814FE7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672B7F3-A4B1-0603-D3E6-742715092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4865657-B955-151B-F8A7-9F29D4954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DEEE5AA-7410-7C51-C593-60F56A0CF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863964-F9E0-402A-B987-5A48562520F5}" type="slidenum">
              <a:rPr lang="it-IT" altLang="it-IT" smtClean="0"/>
              <a:pPr>
                <a:defRPr/>
              </a:pPr>
              <a:t>1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075686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5749-00EE-CEAB-FE99-B536968D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BC2B5BD-FBD6-D59A-AFEE-1A41EA791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DF30D26-01A7-02F3-B045-E222C9EED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A4524AF-C133-C765-2159-8C1C62416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863964-F9E0-402A-B987-5A48562520F5}" type="slidenum">
              <a:rPr lang="it-IT" altLang="it-IT" smtClean="0"/>
              <a:pPr>
                <a:defRPr/>
              </a:pPr>
              <a:t>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08035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22355-F252-829B-1814-B20EB2263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3FFC2CA-4D92-F3C3-02B0-2FF3F0F38F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4C8AA43-FC0B-9161-8A4B-118B64F81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2AEF4EB-6225-E3C9-85D8-3F0E58BCB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863964-F9E0-402A-B987-5A48562520F5}" type="slidenum">
              <a:rPr lang="it-IT" altLang="it-IT" smtClean="0"/>
              <a:pPr>
                <a:defRPr/>
              </a:pPr>
              <a:t>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008023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598CD-D061-36E6-EE79-7D21DF5D0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833FD36-4BCD-09D2-7CCE-BF10B9468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BA4537F-C348-E935-3481-D6FE9C546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2967D80-1516-2FED-F015-898BA9481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863964-F9E0-402A-B987-5A48562520F5}" type="slidenum">
              <a:rPr lang="it-IT" altLang="it-IT" smtClean="0"/>
              <a:pPr>
                <a:defRPr/>
              </a:pPr>
              <a:t>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732613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E1750-88FA-74B3-9B9C-72131BCB6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072CFAB-2AE3-8D9E-F5A3-E8BA7B4FD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F608B2E-F800-D612-4A08-9912A7A7E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7A35AE3-1905-645A-877F-CCD13D32E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863964-F9E0-402A-B987-5A48562520F5}" type="slidenum">
              <a:rPr lang="it-IT" altLang="it-IT" smtClean="0"/>
              <a:pPr>
                <a:defRPr/>
              </a:pPr>
              <a:t>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156924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9D0EB-C085-EC3E-3A3C-57EE1D829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8A4D7C6-F682-37CA-CF02-C8D4539FA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3AB9F89-95B6-1648-24D7-5ACEA301C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C3DB46-47BE-6391-5DAD-F4124AA4D3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863964-F9E0-402A-B987-5A48562520F5}" type="slidenum">
              <a:rPr lang="it-IT" altLang="it-IT" smtClean="0"/>
              <a:pPr>
                <a:defRPr/>
              </a:pPr>
              <a:t>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40112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C4C63-1136-FB64-C7EA-2DE666854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F7E90DE-7247-32D3-EBAF-DFABD2ACF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ED319AE-0461-DD13-4F35-9D53FCC33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BA7D662-7746-02A5-0CF9-1023495521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863964-F9E0-402A-B987-5A48562520F5}" type="slidenum">
              <a:rPr lang="it-IT" altLang="it-IT" smtClean="0"/>
              <a:pPr>
                <a:defRPr/>
              </a:pPr>
              <a:t>7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970359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956BF-E784-B21D-3341-29EA6B516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30CE02B-D389-4438-A0FF-F810FBA2C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2B5D383-974F-F8FA-AA8A-F0859958A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A1CC6D2-5989-6CF5-E427-85E257BD4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863964-F9E0-402A-B987-5A48562520F5}" type="slidenum">
              <a:rPr lang="it-IT" altLang="it-IT" smtClean="0"/>
              <a:pPr>
                <a:defRPr/>
              </a:pPr>
              <a:t>8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63902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22710-C277-85D7-6039-F905677C7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ECECC17-F716-DC80-CC0D-24526EF6A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64021D0-02EF-E37C-B03D-C0D438614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71F940F-A195-BE19-7F89-D8C5C87883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863964-F9E0-402A-B987-5A48562520F5}" type="slidenum">
              <a:rPr lang="it-IT" altLang="it-IT" smtClean="0"/>
              <a:pPr>
                <a:defRPr/>
              </a:pPr>
              <a:t>9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52139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7AF41-162D-FD97-5D5E-63BC33F38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7D2D11C-CF8A-4EA1-28BE-4BD119FA9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65E8F17-CD32-588F-C64B-54FEF27D8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BC57810-2905-7199-5363-ED20D2AC6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863964-F9E0-402A-B987-5A48562520F5}" type="slidenum">
              <a:rPr lang="it-IT" altLang="it-IT" smtClean="0"/>
              <a:pPr>
                <a:defRPr/>
              </a:pPr>
              <a:t>10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309122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56A8-95C8-8620-65DC-BA6F78888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727D9FE-9531-DA7A-332A-66CD0C673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C952B56-5638-F220-DDEA-98519E65E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1DA8DFA-27F7-3D53-4677-182AE3393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863964-F9E0-402A-B987-5A48562520F5}" type="slidenum">
              <a:rPr lang="it-IT" altLang="it-IT" smtClean="0"/>
              <a:pPr>
                <a:defRPr/>
              </a:pPr>
              <a:t>11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2801692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A515A-C397-EB68-82B8-EF02072B4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E72D492-212C-88D9-389B-994077302F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3B84E2B-A43D-25AC-6154-0636F47FD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5E712D9-FC2A-4C43-0001-7D7A3B5286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863964-F9E0-402A-B987-5A48562520F5}" type="slidenum">
              <a:rPr lang="it-IT" altLang="it-IT" smtClean="0"/>
              <a:pPr>
                <a:defRPr/>
              </a:pPr>
              <a:t>12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58210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DF452-4143-CDC9-A12C-86E3AF32B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D6FA97B-1FF0-706C-B3B2-9C97061C6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6C13279-CB40-7339-B62A-942F29E17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55617BD-5B0B-CE57-68CA-99DB2ED74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863964-F9E0-402A-B987-5A48562520F5}" type="slidenum">
              <a:rPr lang="it-IT" altLang="it-IT" smtClean="0"/>
              <a:pPr>
                <a:defRPr/>
              </a:pPr>
              <a:t>13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306026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E0665-1AEF-5127-495E-BED668B5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4B9ECE2-A60B-7E8D-9813-F165F2D66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2C78FA5-3D08-41D5-7271-C6F7060A1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1FC6E9C-6F41-BBF6-9DC8-AB08B0AC2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863964-F9E0-402A-B987-5A48562520F5}" type="slidenum">
              <a:rPr lang="it-IT" altLang="it-IT" smtClean="0"/>
              <a:pPr>
                <a:defRPr/>
              </a:pPr>
              <a:t>14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998881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B9CCE-4F9D-FC54-DE0B-7D7636D11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C1518D3-E3B6-FEF6-1453-2C2DD3F86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7E311E6-5203-84AE-4DB5-9BAC16292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E92CAC7-66DB-B5A0-4EB9-CD00030A2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863964-F9E0-402A-B987-5A48562520F5}" type="slidenum">
              <a:rPr lang="it-IT" altLang="it-IT" smtClean="0"/>
              <a:pPr>
                <a:defRPr/>
              </a:pPr>
              <a:t>15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966612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DCE88-8E5D-BB51-0658-FC455101D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AAD7D55-FEAC-51B3-6116-075173D7F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9D5EB54-4902-6957-AEF4-95D61242B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017C011-67E9-9953-6789-10DEB5EDF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863964-F9E0-402A-B987-5A48562520F5}" type="slidenum">
              <a:rPr lang="it-IT" altLang="it-IT" smtClean="0"/>
              <a:pPr>
                <a:defRPr/>
              </a:pPr>
              <a:t>16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743721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4519B-FA64-0F53-6703-5DCF58698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E977CD8-CC36-1BEA-0365-CA646C672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90280D0-7C67-D771-A451-DD3A0CD92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F9FDB6C-26B2-2A80-4758-FDCAA695F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863964-F9E0-402A-B987-5A48562520F5}" type="slidenum">
              <a:rPr lang="it-IT" altLang="it-IT" smtClean="0"/>
              <a:pPr>
                <a:defRPr/>
              </a:pPr>
              <a:t>17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438907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31A1C-EB63-5C42-10BC-8FD287C1C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82CE3C1-AD2E-AB6A-151D-36FDB128F9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303A58C-D83C-D99E-C0BC-9B666D4CC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798A365-C3E8-01E1-5EE1-EE198662F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863964-F9E0-402A-B987-5A48562520F5}" type="slidenum">
              <a:rPr lang="it-IT" altLang="it-IT" smtClean="0"/>
              <a:pPr>
                <a:defRPr/>
              </a:pPr>
              <a:t>18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2980241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C1368-5F4C-5986-AA41-378468A53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EF59EBF-58BA-0BB6-9608-F3418C35A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850EF1A-318F-3DF5-1AF0-99332870C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AB00F16-94C9-0646-910D-2E7FD7E82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863964-F9E0-402A-B987-5A48562520F5}" type="slidenum">
              <a:rPr lang="it-IT" altLang="it-IT" smtClean="0"/>
              <a:pPr>
                <a:defRPr/>
              </a:pPr>
              <a:t>19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555524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AA535-8294-E9AD-BB7D-9B2DCD9D5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9CF6A67-5514-415F-C5CE-C09C7823D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779411C-6AB4-111E-C95F-D6A02257D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B4422CA-5676-5784-7852-F86984424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863964-F9E0-402A-B987-5A48562520F5}" type="slidenum">
              <a:rPr lang="it-IT" altLang="it-IT" smtClean="0"/>
              <a:pPr>
                <a:defRPr/>
              </a:pPr>
              <a:t>20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84414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24EB0D-0E5C-4548-8457-88D0FC98A2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50757CC-86DD-4421-8D5B-1EE6962C4A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6D6AB6-0045-4B2A-B97B-B5E3C86BED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16F126-F12A-40F2-99D5-994986CBDC1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633762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EF5FC9-BB00-4DF0-B1A3-F2BC645051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5107F2-E686-4C9E-BAB7-D0A54CC2F2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4B1411-43AF-415E-B79D-3DCFE1CE2F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1CDEC3-7EE5-47B8-8467-415EE6C9B7D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69749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77AAF7-185D-4A45-A566-7744FBB94D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AB555D6-DDED-4AA3-B8A9-CFC8AFE3E2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A4FD8C8-79C3-4B6D-AEEF-84C5F5D693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071DC-90A8-453B-962C-C1F667BE61A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58593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702534-0859-4287-9A9E-1D50D93CB3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5EF1C3-85AD-4547-B02D-EF68BB20D0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81BFEA-D1EE-42B6-BBDA-AFC8CDAB43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F42750-6307-45F2-BCDB-E142DC8FBB8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1191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24911ED-53B4-4CBC-A33E-E91E16760E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9F1DC91-E902-4831-BD67-1F311EAE3C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8043941-B937-4021-BDB7-39FF3CAB61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C0A64E-22DC-45D5-A6A9-136441FA282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84600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22BBA26-78A3-4759-816E-2F166420C1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A361462-565F-4940-BF14-38A10E7726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DC705C-68F1-48AB-B393-8B56742BEB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713A9-5289-4C09-95D9-10DCCBF1534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46560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BCAF52B-B6DF-4076-8F79-8EBA2FBD6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BD78ECF-9738-412C-9A55-1A9D6CA66C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5958FA4-76D5-4378-B0EE-42926F8B2B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423096-B338-4FCE-AE6E-B1AF2523796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15831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0D6464-A72F-4B88-9DE2-3AC1EA2D6C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DF394F-E8FD-4ADB-BE05-3DCEA73EA5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547B4D-A4D2-4DBB-8701-01B901169B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CDE523-A13C-413A-BFA8-3119554E4A6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676088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91F08B-3D80-4C4E-B743-4CA320E5F8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D1AB06-D5E0-405B-94ED-A974165E61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4EC37F-8562-499E-BF46-C99D3B7F97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D76EB9-5F30-42C4-8461-FF342BA781B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832987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80A644-290C-4B7E-84CB-C136885CD1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38E33E-ECF8-4348-A45F-79EE3C82BC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43FBDE-66FD-46B5-A2ED-B669E34C7E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6EB32F-58F4-47B5-9ED8-7E59FE1456F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73543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D64A1B-389F-4534-A89B-9FD8B7B069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BB2D771-C23C-42C9-A6EC-DB67A1CB1A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451A77-51F0-4B38-8315-A3310D3595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4E94FE-06D0-47BA-BEBD-1904960FF23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967343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ED1EC14-77B8-48EA-B9CD-A165C6E722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4527ADA-537F-442A-BDFF-E0F252DC1E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B201FB4-7008-466F-9D47-F69DE5EE49D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5FEDB23-C202-4158-83DF-4E465947ED5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D708A16-9F66-4A38-A3C0-EF8D553C94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1B35F1B-7371-4B0C-90FD-71E5A6174BA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377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914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9C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F25A6F-DBE6-F90F-45AD-0E3AD5288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6">
            <a:extLst>
              <a:ext uri="{FF2B5EF4-FFF2-40B4-BE49-F238E27FC236}">
                <a16:creationId xmlns:a16="http://schemas.microsoft.com/office/drawing/2014/main" id="{56BD213A-B7F8-3843-168C-3A038B544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59" y="1494512"/>
            <a:ext cx="7902203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it-IT" sz="1400" dirty="0">
                <a:solidFill>
                  <a:schemeClr val="bg1"/>
                </a:solidFill>
                <a:latin typeface="HP Simplified Light" panose="020B0404020204020204" pitchFamily="34" charset="0"/>
                <a:cs typeface="Times New Roman" panose="02020603050405020304" pitchFamily="18" charset="0"/>
              </a:rPr>
              <a:t>Giornata di Studi</a:t>
            </a:r>
          </a:p>
          <a:p>
            <a:pPr>
              <a:spcBef>
                <a:spcPts val="0"/>
              </a:spcBef>
              <a:buNone/>
            </a:pPr>
            <a:r>
              <a:rPr lang="it-IT" sz="2000" b="1" dirty="0">
                <a:solidFill>
                  <a:schemeClr val="bg1"/>
                </a:solidFill>
                <a:latin typeface="HP Simplified Light" panose="020B0404020204020204" pitchFamily="34" charset="0"/>
                <a:cs typeface="Times New Roman" panose="02020603050405020304" pitchFamily="18" charset="0"/>
              </a:rPr>
              <a:t>Accessibilità è cultura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42788183-130C-48F5-3A53-91C0742C1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509" y="3329548"/>
            <a:ext cx="7902203" cy="2970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None/>
            </a:pPr>
            <a:r>
              <a:rPr lang="it-IT" altLang="it-IT" sz="3500" b="1" dirty="0">
                <a:solidFill>
                  <a:schemeClr val="bg1"/>
                </a:solidFill>
                <a:latin typeface="HP Simplified Light" panose="020B0404020204020204" pitchFamily="34" charset="0"/>
                <a:cs typeface="Times New Roman" panose="02020603050405020304" pitchFamily="18" charset="0"/>
              </a:rPr>
              <a:t>Sulla disabilità</a:t>
            </a:r>
          </a:p>
          <a:p>
            <a:pPr algn="just" eaLnBrk="1" hangingPunct="1">
              <a:spcBef>
                <a:spcPct val="0"/>
              </a:spcBef>
              <a:buNone/>
            </a:pPr>
            <a:endParaRPr lang="it-IT" altLang="it-IT" sz="1800" dirty="0">
              <a:solidFill>
                <a:schemeClr val="bg1"/>
              </a:solidFill>
              <a:latin typeface="HP Simplified Light" panose="020B040402020402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None/>
            </a:pPr>
            <a:endParaRPr lang="it-IT" altLang="it-IT" sz="1800" dirty="0">
              <a:solidFill>
                <a:schemeClr val="bg1"/>
              </a:solidFill>
              <a:latin typeface="HP Simplified Light" panose="020B040402020402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None/>
            </a:pPr>
            <a:endParaRPr lang="it-IT" altLang="it-IT" sz="1800" dirty="0">
              <a:solidFill>
                <a:schemeClr val="bg1"/>
              </a:solidFill>
              <a:latin typeface="HP Simplified Light" panose="020B040402020402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None/>
            </a:pPr>
            <a:endParaRPr lang="it-IT" altLang="it-IT" sz="1800" dirty="0">
              <a:solidFill>
                <a:schemeClr val="bg1"/>
              </a:solidFill>
              <a:latin typeface="HP Simplified Light" panose="020B040402020402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it-IT" altLang="it-IT" sz="1600" dirty="0">
                <a:solidFill>
                  <a:schemeClr val="bg1"/>
                </a:solidFill>
                <a:latin typeface="HP Simplified Light" panose="020B0404020204020204" pitchFamily="34" charset="0"/>
                <a:cs typeface="Times New Roman" panose="02020603050405020304" pitchFamily="18" charset="0"/>
              </a:rPr>
              <a:t>Adolfo F.L. Baratta</a:t>
            </a:r>
          </a:p>
          <a:p>
            <a:pPr algn="just" eaLnBrk="1" hangingPunct="1">
              <a:spcBef>
                <a:spcPct val="0"/>
              </a:spcBef>
              <a:buNone/>
            </a:pPr>
            <a:r>
              <a:rPr lang="it-IT" altLang="it-IT" sz="1600" dirty="0">
                <a:solidFill>
                  <a:schemeClr val="bg1"/>
                </a:solidFill>
                <a:latin typeface="HP Simplified Light" panose="020B0404020204020204" pitchFamily="34" charset="0"/>
                <a:cs typeface="Times New Roman" panose="02020603050405020304" pitchFamily="18" charset="0"/>
              </a:rPr>
              <a:t>Università degli Studi Roma Tre</a:t>
            </a:r>
          </a:p>
          <a:p>
            <a:pPr algn="just" eaLnBrk="1" hangingPunct="1">
              <a:spcBef>
                <a:spcPct val="0"/>
              </a:spcBef>
              <a:buNone/>
            </a:pPr>
            <a:endParaRPr lang="it-IT" altLang="it-IT" sz="1600" dirty="0">
              <a:solidFill>
                <a:schemeClr val="bg1"/>
              </a:solidFill>
              <a:latin typeface="HP Simplified Light" panose="020B040402020402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None/>
            </a:pPr>
            <a:endParaRPr lang="it-IT" altLang="it-IT" sz="1600" dirty="0">
              <a:solidFill>
                <a:schemeClr val="bg1"/>
              </a:solidFill>
              <a:latin typeface="HP Simplified Light" panose="020B0404020204020204" pitchFamily="34" charset="0"/>
              <a:cs typeface="Times New Roman" panose="02020603050405020304" pitchFamily="18" charset="0"/>
            </a:endParaRPr>
          </a:p>
          <a:p>
            <a:pPr algn="r" eaLnBrk="1" hangingPunct="1">
              <a:spcBef>
                <a:spcPct val="0"/>
              </a:spcBef>
              <a:buNone/>
            </a:pPr>
            <a:r>
              <a:rPr lang="it-IT" altLang="it-IT" sz="1600" dirty="0">
                <a:solidFill>
                  <a:schemeClr val="bg1"/>
                </a:solidFill>
                <a:latin typeface="HP Simplified Light" panose="020B0404020204020204" pitchFamily="34" charset="0"/>
                <a:cs typeface="Times New Roman" panose="02020603050405020304" pitchFamily="18" charset="0"/>
              </a:rPr>
              <a:t>Siracusa, 9 maggio 2025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6F22A9F-798C-5A04-F84E-B7E1FAABA8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75" t="16657" r="11801" b="45170"/>
          <a:stretch/>
        </p:blipFill>
        <p:spPr>
          <a:xfrm>
            <a:off x="3779912" y="289157"/>
            <a:ext cx="4733849" cy="119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434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735C8-CA03-83D5-CA80-394A49F67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E3809137-1FF9-7710-09CA-32F7E5038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56205"/>
            <a:ext cx="79025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Persona vulnerabile</a:t>
            </a:r>
          </a:p>
        </p:txBody>
      </p:sp>
      <p:sp>
        <p:nvSpPr>
          <p:cNvPr id="27651" name="Segnaposto numero diapositiva 1">
            <a:extLst>
              <a:ext uri="{FF2B5EF4-FFF2-40B4-BE49-F238E27FC236}">
                <a16:creationId xmlns:a16="http://schemas.microsoft.com/office/drawing/2014/main" id="{D2422527-764F-D236-2A3F-5490583603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301" y="6381753"/>
            <a:ext cx="476251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32" indent="-285744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2971" indent="-228594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160" indent="-228594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349" indent="-228594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EEE90F7C-DB35-4B19-AB0F-94BF8DC618DB}" type="slidenum">
              <a:rPr lang="it-IT" altLang="it-IT" sz="1800" b="1">
                <a:solidFill>
                  <a:srgbClr val="489C72"/>
                </a:solidFill>
                <a:latin typeface="HP Simplified Light" panose="020B0404020204020204" pitchFamily="34" charset="0"/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it-IT" altLang="it-IT" sz="2000" b="1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75D6800-4921-A1E7-405B-3687C3654579}"/>
              </a:ext>
            </a:extLst>
          </p:cNvPr>
          <p:cNvSpPr/>
          <p:nvPr/>
        </p:nvSpPr>
        <p:spPr>
          <a:xfrm>
            <a:off x="630237" y="1500745"/>
            <a:ext cx="3870325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Per persona si intende un "Individuo della specie umana, senza distinzione di sesso, età, condizione sociale e simili, considerato sia come elemento a sé stante sia come facente parte di un gruppo o di una collettività" [Treccani, 2025].</a:t>
            </a:r>
          </a:p>
          <a:p>
            <a:pPr algn="just"/>
            <a:endParaRPr lang="it-IT" sz="1400" dirty="0">
              <a:solidFill>
                <a:srgbClr val="489C72"/>
              </a:solidFill>
              <a:latin typeface="HP Simplified Light" panose="020B0404020204020204" pitchFamily="34" charset="0"/>
              <a:cs typeface="Arial" panose="020B0604020202020204" pitchFamily="34" charset="0"/>
            </a:endParaRPr>
          </a:p>
          <a:p>
            <a:pPr algn="just"/>
            <a:r>
              <a:rPr lang="it-IT" sz="1400" b="1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Papa Francesco </a:t>
            </a: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nel 2019 nella lettera apostolica </a:t>
            </a:r>
            <a:r>
              <a:rPr lang="it-IT" sz="1400" i="1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Vos </a:t>
            </a:r>
            <a:r>
              <a:rPr lang="it-IT" sz="1400" i="1" dirty="0" err="1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Esist</a:t>
            </a:r>
            <a:r>
              <a:rPr lang="it-IT" sz="1400" i="1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 Lux </a:t>
            </a:r>
            <a:r>
              <a:rPr lang="it-IT" sz="1400" i="1" dirty="0" err="1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Mund</a:t>
            </a: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, definisce le </a:t>
            </a:r>
            <a:r>
              <a:rPr lang="it-IT" sz="1400" b="1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persone vulnerabili </a:t>
            </a: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ogni persona in stato d’infermità, di deficienza fisica o psichica, o di privazione della libertà personale che di fatto, anche occasionalmente, </a:t>
            </a:r>
            <a:r>
              <a:rPr lang="it-IT" sz="1400" b="1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ne limiti la capacità di intendere o di volere o comunque di resistere all’offesa</a:t>
            </a: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9" name="Immagine 8" descr="Immagine che contiene Viso umano, testo, ruga, schermata&#10;&#10;Descrizione generata automaticamente">
            <a:extLst>
              <a:ext uri="{FF2B5EF4-FFF2-40B4-BE49-F238E27FC236}">
                <a16:creationId xmlns:a16="http://schemas.microsoft.com/office/drawing/2014/main" id="{A0524732-D496-E3D8-0073-F7ED521817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8" t="12057" r="1935" b="2837"/>
          <a:stretch/>
        </p:blipFill>
        <p:spPr>
          <a:xfrm>
            <a:off x="4643438" y="1500745"/>
            <a:ext cx="3870325" cy="4823154"/>
          </a:xfrm>
          <a:prstGeom prst="rect">
            <a:avLst/>
          </a:prstGeom>
        </p:spPr>
      </p:pic>
      <p:sp>
        <p:nvSpPr>
          <p:cNvPr id="10" name="Rectangle 11">
            <a:extLst>
              <a:ext uri="{FF2B5EF4-FFF2-40B4-BE49-F238E27FC236}">
                <a16:creationId xmlns:a16="http://schemas.microsoft.com/office/drawing/2014/main" id="{394B8626-7238-6AAC-A47B-3FE19D13A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7018"/>
            <a:ext cx="7902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Adolfo F.L. Baratta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dirty="0">
                <a:solidFill>
                  <a:srgbClr val="489C72"/>
                </a:solidFill>
                <a:latin typeface="HP Simplified Light" panose="020B0404020204020204" pitchFamily="34" charset="0"/>
              </a:rPr>
              <a:t>Sulla disabilità</a:t>
            </a:r>
          </a:p>
        </p:txBody>
      </p:sp>
    </p:spTree>
    <p:extLst>
      <p:ext uri="{BB962C8B-B14F-4D97-AF65-F5344CB8AC3E}">
        <p14:creationId xmlns:p14="http://schemas.microsoft.com/office/powerpoint/2010/main" val="3487403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8C964-CF51-C977-A3E0-22F5D9BED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A3155A79-BA95-EC9B-E959-AD57FEDE2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56205"/>
            <a:ext cx="79025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Persona con disabilità</a:t>
            </a:r>
          </a:p>
        </p:txBody>
      </p:sp>
      <p:sp>
        <p:nvSpPr>
          <p:cNvPr id="6" name="Segnaposto numero diapositiva 1">
            <a:extLst>
              <a:ext uri="{FF2B5EF4-FFF2-40B4-BE49-F238E27FC236}">
                <a16:creationId xmlns:a16="http://schemas.microsoft.com/office/drawing/2014/main" id="{78161374-A0A1-AAAD-5DF5-060F4C7372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301" y="6381753"/>
            <a:ext cx="476251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32" indent="-285744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2971" indent="-228594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160" indent="-228594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349" indent="-228594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EEE90F7C-DB35-4B19-AB0F-94BF8DC618DB}" type="slidenum">
              <a:rPr lang="it-IT" altLang="it-IT" sz="1800" b="1">
                <a:solidFill>
                  <a:srgbClr val="489C72"/>
                </a:solidFill>
                <a:latin typeface="HP Simplified Light" panose="020B0404020204020204" pitchFamily="34" charset="0"/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it-IT" altLang="it-IT" sz="2000" b="1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1627CDF-B876-4F10-2483-3AD0E799E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7018"/>
            <a:ext cx="7902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Adolfo F.L. Baratta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dirty="0">
                <a:solidFill>
                  <a:srgbClr val="489C72"/>
                </a:solidFill>
                <a:latin typeface="HP Simplified Light" panose="020B0404020204020204" pitchFamily="34" charset="0"/>
              </a:rPr>
              <a:t>Sulla disabilità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FDFD287-EFB8-B35C-2AE3-91E94C68FDC1}"/>
              </a:ext>
            </a:extLst>
          </p:cNvPr>
          <p:cNvSpPr txBox="1"/>
          <p:nvPr/>
        </p:nvSpPr>
        <p:spPr>
          <a:xfrm>
            <a:off x="616744" y="1492325"/>
            <a:ext cx="388381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Chi parla male, pensa male.</a:t>
            </a:r>
          </a:p>
          <a:p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E vive male.</a:t>
            </a:r>
          </a:p>
          <a:p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Bisogna trovare le parole giuste. </a:t>
            </a:r>
          </a:p>
          <a:p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Le parole sono importanti.</a:t>
            </a:r>
          </a:p>
          <a:p>
            <a:pPr algn="l"/>
            <a:endParaRPr lang="it-IT" sz="1400" dirty="0">
              <a:solidFill>
                <a:srgbClr val="489C72"/>
              </a:solidFill>
              <a:latin typeface="HP Simplified Light" panose="020B0404020204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Nanni Moretti, </a:t>
            </a:r>
            <a:r>
              <a:rPr lang="it-IT" sz="1400" i="1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Palombella Rossa</a:t>
            </a: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, 1989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D73081-AEE3-AA20-94CF-60443A0F957C}"/>
              </a:ext>
            </a:extLst>
          </p:cNvPr>
          <p:cNvSpPr txBox="1"/>
          <p:nvPr/>
        </p:nvSpPr>
        <p:spPr>
          <a:xfrm>
            <a:off x="620915" y="3631179"/>
            <a:ext cx="388381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Infelice</a:t>
            </a:r>
          </a:p>
          <a:p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Minorato</a:t>
            </a:r>
          </a:p>
          <a:p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Offeso</a:t>
            </a:r>
          </a:p>
          <a:p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Storpio</a:t>
            </a:r>
          </a:p>
          <a:p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Impedito</a:t>
            </a:r>
          </a:p>
          <a:p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Infermo</a:t>
            </a:r>
          </a:p>
          <a:p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Invalido</a:t>
            </a:r>
          </a:p>
          <a:p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Handicappato</a:t>
            </a:r>
          </a:p>
          <a:p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Disabile</a:t>
            </a:r>
          </a:p>
          <a:p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Diversamente abile</a:t>
            </a:r>
          </a:p>
          <a:p>
            <a:endParaRPr lang="it-IT" sz="1400" dirty="0">
              <a:solidFill>
                <a:srgbClr val="489C72"/>
              </a:solidFill>
              <a:latin typeface="HP Simplified Light" panose="020B0404020204020204" pitchFamily="34" charset="0"/>
              <a:cs typeface="Arial" panose="020B0604020202020204" pitchFamily="34" charset="0"/>
            </a:endParaRPr>
          </a:p>
          <a:p>
            <a:r>
              <a:rPr lang="it-IT" sz="1400" b="1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Persona con disabilità</a:t>
            </a:r>
          </a:p>
        </p:txBody>
      </p:sp>
      <p:pic>
        <p:nvPicPr>
          <p:cNvPr id="9" name="Immagine 2" descr="Immagine che contiene testo&#10;&#10;Descrizione generata con affidabilità elevata">
            <a:extLst>
              <a:ext uri="{FF2B5EF4-FFF2-40B4-BE49-F238E27FC236}">
                <a16:creationId xmlns:a16="http://schemas.microsoft.com/office/drawing/2014/main" id="{26FB7816-C95C-0A20-E25B-91F819FCDA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01" t="10515" r="2866"/>
          <a:stretch/>
        </p:blipFill>
        <p:spPr bwMode="auto">
          <a:xfrm>
            <a:off x="4807480" y="1492325"/>
            <a:ext cx="3538091" cy="4823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7431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2A13C-382E-6A3E-5387-40AD74AA7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F168A5E7-9BFF-6E98-CF0E-6E1D8E1BF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56205"/>
            <a:ext cx="79025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Persona con disabilità</a:t>
            </a:r>
          </a:p>
        </p:txBody>
      </p:sp>
      <p:sp>
        <p:nvSpPr>
          <p:cNvPr id="27651" name="Segnaposto numero diapositiva 1">
            <a:extLst>
              <a:ext uri="{FF2B5EF4-FFF2-40B4-BE49-F238E27FC236}">
                <a16:creationId xmlns:a16="http://schemas.microsoft.com/office/drawing/2014/main" id="{B89CBA07-26C0-F2AD-1F6F-B28F9E063A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301" y="6381753"/>
            <a:ext cx="476251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32" indent="-285744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2971" indent="-228594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160" indent="-228594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349" indent="-228594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EEE90F7C-DB35-4B19-AB0F-94BF8DC618DB}" type="slidenum">
              <a:rPr lang="it-IT" altLang="it-IT" sz="1800" b="1">
                <a:solidFill>
                  <a:srgbClr val="489C72"/>
                </a:solidFill>
                <a:latin typeface="HP Simplified Light" panose="020B0404020204020204" pitchFamily="34" charset="0"/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it-IT" altLang="it-IT" sz="2000" b="1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831D5D0-FF8B-EE13-B335-ABD30C3F3247}"/>
              </a:ext>
            </a:extLst>
          </p:cNvPr>
          <p:cNvSpPr/>
          <p:nvPr/>
        </p:nvSpPr>
        <p:spPr>
          <a:xfrm>
            <a:off x="630237" y="1500745"/>
            <a:ext cx="387032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Se si sposta il paradigma dall’essere persone con disabilità al diventare persone con disabilità, si rafforzano due concetti:</a:t>
            </a:r>
          </a:p>
          <a:p>
            <a:pPr algn="just"/>
            <a:endParaRPr lang="it-IT" sz="1400" dirty="0">
              <a:solidFill>
                <a:srgbClr val="489C72"/>
              </a:solidFill>
              <a:latin typeface="HP Simplified Light" panose="020B0404020204020204" pitchFamily="34" charset="0"/>
              <a:cs typeface="Arial" panose="020B0604020202020204" pitchFamily="34" charset="0"/>
            </a:endParaRPr>
          </a:p>
          <a:p>
            <a:pPr marL="342891" indent="-342891" algn="just">
              <a:buFont typeface="+mj-lt"/>
              <a:buAutoNum type="arabicPeriod"/>
            </a:pP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che tutti </a:t>
            </a:r>
            <a:r>
              <a:rPr lang="it-IT" sz="1400" b="1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siamo, siamo stati o saremo persone con disabilità</a:t>
            </a: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;</a:t>
            </a:r>
          </a:p>
          <a:p>
            <a:pPr marL="342891" indent="-342891" algn="just">
              <a:buFont typeface="+mj-lt"/>
              <a:buAutoNum type="arabicPeriod"/>
            </a:pPr>
            <a:endParaRPr lang="it-IT" sz="1400" dirty="0">
              <a:solidFill>
                <a:srgbClr val="489C72"/>
              </a:solidFill>
              <a:latin typeface="HP Simplified Light" panose="020B0404020204020204" pitchFamily="34" charset="0"/>
              <a:cs typeface="Arial" panose="020B0604020202020204" pitchFamily="34" charset="0"/>
            </a:endParaRPr>
          </a:p>
          <a:p>
            <a:pPr marL="342891" indent="-342891" algn="just">
              <a:buFont typeface="+mj-lt"/>
              <a:buAutoNum type="arabicPeriod"/>
            </a:pP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che la condizione di disabilità non è determinata solo da </a:t>
            </a:r>
            <a:r>
              <a:rPr lang="it-IT" sz="1400" b="1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fattori fisici </a:t>
            </a: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ma anche da </a:t>
            </a:r>
            <a:r>
              <a:rPr lang="it-IT" sz="1400" b="1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fattori ambientali </a:t>
            </a: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e </a:t>
            </a:r>
            <a:r>
              <a:rPr lang="it-IT" sz="1400" b="1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fattori</a:t>
            </a: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 </a:t>
            </a:r>
            <a:r>
              <a:rPr lang="it-IT" sz="1400" b="1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sociali</a:t>
            </a: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82757912-0AB2-3814-50E6-A35A3D3F6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7018"/>
            <a:ext cx="7902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Adolfo F.L. Baratta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dirty="0">
                <a:solidFill>
                  <a:srgbClr val="489C72"/>
                </a:solidFill>
                <a:latin typeface="HP Simplified Light" panose="020B0404020204020204" pitchFamily="34" charset="0"/>
              </a:rPr>
              <a:t>Sulla disabilità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F0007CC-EA7E-5233-D177-DDBC10C3EA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85" t="13819" r="36118"/>
          <a:stretch/>
        </p:blipFill>
        <p:spPr>
          <a:xfrm>
            <a:off x="4645520" y="1500745"/>
            <a:ext cx="3868243" cy="480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362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9512E-62F7-F5C2-B1E8-A924EE81B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4B8B6ED0-56AE-0337-AFBB-F953DD20E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56205"/>
            <a:ext cx="79025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Persona con disabilità nel mondo</a:t>
            </a:r>
          </a:p>
        </p:txBody>
      </p:sp>
      <p:sp>
        <p:nvSpPr>
          <p:cNvPr id="27651" name="Segnaposto numero diapositiva 1">
            <a:extLst>
              <a:ext uri="{FF2B5EF4-FFF2-40B4-BE49-F238E27FC236}">
                <a16:creationId xmlns:a16="http://schemas.microsoft.com/office/drawing/2014/main" id="{CBFDCCF1-9971-1A43-CAE1-9EE57DED25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301" y="6381753"/>
            <a:ext cx="476251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32" indent="-285744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2971" indent="-228594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160" indent="-228594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349" indent="-228594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EEE90F7C-DB35-4B19-AB0F-94BF8DC618DB}" type="slidenum">
              <a:rPr lang="it-IT" altLang="it-IT" sz="1800" b="1">
                <a:solidFill>
                  <a:srgbClr val="489C72"/>
                </a:solidFill>
                <a:latin typeface="HP Simplified Light" panose="020B0404020204020204" pitchFamily="34" charset="0"/>
              </a:rPr>
              <a:pPr algn="ctr">
                <a:spcBef>
                  <a:spcPct val="0"/>
                </a:spcBef>
                <a:buFontTx/>
                <a:buNone/>
              </a:pPr>
              <a:t>5</a:t>
            </a:fld>
            <a:endParaRPr lang="it-IT" altLang="it-IT" sz="2000" b="1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8A14B2BD-4AA1-C1D2-4D87-F037BFBA6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7018"/>
            <a:ext cx="7902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Adolfo F.L. Baratta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dirty="0">
                <a:solidFill>
                  <a:srgbClr val="489C72"/>
                </a:solidFill>
                <a:latin typeface="HP Simplified Light" panose="020B0404020204020204" pitchFamily="34" charset="0"/>
              </a:rPr>
              <a:t>Sulla disabilità</a:t>
            </a:r>
          </a:p>
        </p:txBody>
      </p:sp>
      <p:sp>
        <p:nvSpPr>
          <p:cNvPr id="2" name="Text Box 8">
            <a:extLst>
              <a:ext uri="{FF2B5EF4-FFF2-40B4-BE49-F238E27FC236}">
                <a16:creationId xmlns:a16="http://schemas.microsoft.com/office/drawing/2014/main" id="{A22BAF6C-3278-4395-BE03-FCDA14A7E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8" y="1497484"/>
            <a:ext cx="3895725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Secondo le Nazioni Unite, quasi il 15% della popolazione mondiale ovvero circa </a:t>
            </a: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1 miliardo di persone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 presentano delle forme di disabilità.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it-IT" altLang="it-IT" sz="1400" b="0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In particolare, il primo </a:t>
            </a:r>
            <a:r>
              <a:rPr lang="it-IT" altLang="it-IT" sz="1400" b="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Rapporto mondiale sulla disabilità 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realizzato, nel 2011, dall’Organizzazione Mondiale della Sanità e dalla Banca mondiale ha indicato in oltre un miliardo le persone che presentano una qualche forma di disabilità: in sostanza, come afferma Matteo Schianchi, “</a:t>
            </a: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la terza nazione al mondo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”.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In Italia le persone con disabilità sono circa </a:t>
            </a: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2,3 milioni</a:t>
            </a: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.</a:t>
            </a:r>
            <a:endParaRPr lang="it-IT" altLang="it-IT" sz="1400" b="0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</p:txBody>
      </p:sp>
      <p:pic>
        <p:nvPicPr>
          <p:cNvPr id="4" name="Immagine 3" descr="Immagine che contiene persona, aria aperta, terreno, sport&#10;&#10;Il contenuto generato dall'IA potrebbe non essere corretto.">
            <a:extLst>
              <a:ext uri="{FF2B5EF4-FFF2-40B4-BE49-F238E27FC236}">
                <a16:creationId xmlns:a16="http://schemas.microsoft.com/office/drawing/2014/main" id="{C60217B1-3249-1CBA-D2C0-5329D2DB1D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6" r="3725"/>
          <a:stretch/>
        </p:blipFill>
        <p:spPr>
          <a:xfrm>
            <a:off x="4643439" y="1484313"/>
            <a:ext cx="4500561" cy="482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255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55FC3-FA72-843C-DC96-B21516F9D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4249B118-87EA-ED71-039F-42DE22F73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56205"/>
            <a:ext cx="79025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Persona con disabilità</a:t>
            </a:r>
          </a:p>
        </p:txBody>
      </p:sp>
      <p:sp>
        <p:nvSpPr>
          <p:cNvPr id="27651" name="Segnaposto numero diapositiva 1">
            <a:extLst>
              <a:ext uri="{FF2B5EF4-FFF2-40B4-BE49-F238E27FC236}">
                <a16:creationId xmlns:a16="http://schemas.microsoft.com/office/drawing/2014/main" id="{B55B7FC9-15B9-5C3C-8021-34CD118AC3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301" y="6381753"/>
            <a:ext cx="476251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32" indent="-285744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2971" indent="-228594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160" indent="-228594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349" indent="-228594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EEE90F7C-DB35-4B19-AB0F-94BF8DC618DB}" type="slidenum">
              <a:rPr lang="it-IT" altLang="it-IT" sz="1800" b="1">
                <a:solidFill>
                  <a:srgbClr val="489C72"/>
                </a:solidFill>
                <a:latin typeface="HP Simplified Light" panose="020B0404020204020204" pitchFamily="34" charset="0"/>
              </a:rPr>
              <a:pPr algn="ctr">
                <a:spcBef>
                  <a:spcPct val="0"/>
                </a:spcBef>
                <a:buFontTx/>
                <a:buNone/>
              </a:pPr>
              <a:t>6</a:t>
            </a:fld>
            <a:endParaRPr lang="it-IT" altLang="it-IT" sz="2000" b="1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3C278783-2DAF-AD51-EA3D-7CBAD0842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7018"/>
            <a:ext cx="7902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Adolfo F.L. Baratta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dirty="0">
                <a:solidFill>
                  <a:srgbClr val="489C72"/>
                </a:solidFill>
                <a:latin typeface="HP Simplified Light" panose="020B0404020204020204" pitchFamily="34" charset="0"/>
              </a:rPr>
              <a:t>Sulla disabilità</a:t>
            </a: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74BA92EE-6B25-B3C4-E8E7-EF4E7BCA4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497484"/>
            <a:ext cx="3889375" cy="46166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La prima classificazione delle forme di disabilità è realizzata dall’</a:t>
            </a: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Organizzazione Mondiale della Sanità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 nel </a:t>
            </a: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1948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 all’interno della </a:t>
            </a:r>
            <a:r>
              <a:rPr lang="it-IT" altLang="it-IT" sz="1400" b="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International </a:t>
            </a:r>
            <a:r>
              <a:rPr lang="it-IT" altLang="it-IT" sz="1400" b="0" i="1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Classification</a:t>
            </a:r>
            <a:r>
              <a:rPr lang="it-IT" altLang="it-IT" sz="1400" b="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 of </a:t>
            </a:r>
            <a:r>
              <a:rPr lang="it-IT" altLang="it-IT" sz="1400" b="0" i="1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Diseases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 (ICD).</a:t>
            </a:r>
          </a:p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endParaRPr lang="it-IT" altLang="it-IT" sz="1400" b="0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La Classificazione Internazionale del funzionamento, disabilità e salute (ICF) è del </a:t>
            </a: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2001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: questa classificazione riguarda le caratteristiche della salute di tutte le persone, non solo quelle con disabilità, in relazione al contesto delle specifiche condizioni di vita individuali e alla loro interrelazione con i fattori ambientali.</a:t>
            </a:r>
          </a:p>
          <a:p>
            <a:pPr algn="just">
              <a:spcBef>
                <a:spcPct val="0"/>
              </a:spcBef>
              <a:buFontTx/>
              <a:buNone/>
              <a:defRPr/>
            </a:pPr>
            <a:endParaRPr lang="it-IT" altLang="it-IT" sz="1400" b="0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  <a:p>
            <a:pPr algn="just">
              <a:spcBef>
                <a:spcPct val="0"/>
              </a:spcBef>
              <a:buFontTx/>
              <a:buNone/>
              <a:defRPr/>
            </a:pP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La Legge n. 104 del 5 febbraio 1992, “Legge quadro per l’assistenza, l’integrazione sociale e dei diritti delle persone handicappate”, definisce persona con disabilità “</a:t>
            </a: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colui che presenta una minorazione fisica, psichica o sensoriale, stabilizzata o progressiva, che è causa di difficoltà di apprendimento, di relazione o di integrazione lavorativa e tale da determinare un processo di svantaggio sociale o di emarginazione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”.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BF2630B-B70A-2350-F462-3F3BAC83FF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931" r="8135"/>
          <a:stretch/>
        </p:blipFill>
        <p:spPr bwMode="auto">
          <a:xfrm>
            <a:off x="4643438" y="1497484"/>
            <a:ext cx="3870324" cy="481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94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F9D0F-D22B-6CC1-A3A7-45E2324F8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CBA70035-CE28-A04D-E4D1-E737A7557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56205"/>
            <a:ext cx="79025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Persona con disabilità</a:t>
            </a: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6CDAE8DB-6647-E2DC-7C70-F0E33B328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200777"/>
            <a:ext cx="7902575" cy="31085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D = </a:t>
            </a:r>
            <a:r>
              <a:rPr lang="it-IT" altLang="it-IT" sz="140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fs</a:t>
            </a: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 (FS) x (FA) x (FC)</a:t>
            </a:r>
          </a:p>
          <a:p>
            <a:pPr algn="ctr" eaLnBrk="1" hangingPunct="1">
              <a:defRPr/>
            </a:pPr>
            <a:endParaRPr lang="it-IT" altLang="it-IT" sz="1400" b="0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  <a:p>
            <a:pPr algn="ctr" eaLnBrk="1" hangingPunct="1">
              <a:defRPr/>
            </a:pP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D = </a:t>
            </a:r>
            <a:r>
              <a:rPr lang="it-IT" altLang="it-IT" sz="1400" b="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fs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 (</a:t>
            </a:r>
            <a:r>
              <a:rPr lang="it-IT" altLang="it-IT" sz="1400" b="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Lv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; Lu; </a:t>
            </a:r>
            <a:r>
              <a:rPr lang="it-IT" altLang="it-IT" sz="1400" b="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Lmo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; </a:t>
            </a:r>
            <a:r>
              <a:rPr lang="it-IT" altLang="it-IT" sz="1400" b="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Lme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; Lc … La) x (</a:t>
            </a:r>
            <a:r>
              <a:rPr lang="it-IT" altLang="it-IT" sz="1400" b="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Bph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, </a:t>
            </a:r>
            <a:r>
              <a:rPr lang="it-IT" altLang="it-IT" sz="1400" b="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Bc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, </a:t>
            </a:r>
            <a:r>
              <a:rPr lang="it-IT" altLang="it-IT" sz="1400" b="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Bp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, </a:t>
            </a:r>
            <a:r>
              <a:rPr lang="it-IT" altLang="it-IT" sz="1400" b="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Bs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 … </a:t>
            </a:r>
            <a:r>
              <a:rPr lang="it-IT" altLang="it-IT" sz="1400" b="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Ba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) x </a:t>
            </a:r>
            <a:r>
              <a:rPr lang="it-IT" altLang="it-IT" sz="1400" b="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fs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 (c; ce; ci … a)</a:t>
            </a:r>
          </a:p>
          <a:p>
            <a:pPr algn="just" eaLnBrk="1" hangingPunct="1">
              <a:defRPr/>
            </a:pPr>
            <a:endParaRPr lang="it-IT" altLang="it-IT" sz="1400" b="0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  <a:p>
            <a:pPr algn="just" eaLnBrk="1" hangingPunct="1">
              <a:defRPr/>
            </a:pP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Legenda</a:t>
            </a:r>
          </a:p>
          <a:p>
            <a:pPr marL="452427" indent="-452427" algn="just" eaLnBrk="1" hangingPunct="1">
              <a:defRPr/>
            </a:pP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D = 	Magnitudo della disabilità</a:t>
            </a:r>
          </a:p>
          <a:p>
            <a:pPr marL="452427" indent="-452427" algn="just" eaLnBrk="1" hangingPunct="1">
              <a:defRPr/>
            </a:pPr>
            <a:r>
              <a:rPr lang="it-IT" altLang="it-IT" sz="1400" b="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fs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 = 	Funzione delle variabili costituite dalle limitazioni della salute, ambientali e comportamentali</a:t>
            </a:r>
          </a:p>
          <a:p>
            <a:pPr marL="452427" indent="-452427" algn="just" eaLnBrk="1" hangingPunct="1">
              <a:defRPr/>
            </a:pP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FS = 	Fattori fisici che determinano delle limitazioni funzionali (</a:t>
            </a:r>
            <a:r>
              <a:rPr lang="it-IT" altLang="it-IT" sz="1400" b="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Lv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 = Limitazioni visive; Lu = Limitazioni uditive; </a:t>
            </a:r>
            <a:r>
              <a:rPr lang="it-IT" altLang="it-IT" sz="1400" b="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Lmo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 = Limitazioni motorie; </a:t>
            </a:r>
            <a:r>
              <a:rPr lang="it-IT" altLang="it-IT" sz="1400" b="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Lme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 = Limitazioni mnemoniche; Lc = Limitazioni comunicative; La = Limitazioni altre)</a:t>
            </a:r>
          </a:p>
          <a:p>
            <a:pPr marL="452427" indent="-452427" algn="just" eaLnBrk="1" hangingPunct="1">
              <a:defRPr/>
            </a:pP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FA =	Fattori ambientali (</a:t>
            </a:r>
            <a:r>
              <a:rPr lang="it-IT" altLang="it-IT" sz="1400" b="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Bph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 = Barriere fisiche; </a:t>
            </a:r>
            <a:r>
              <a:rPr lang="it-IT" altLang="it-IT" sz="1400" b="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Bc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 = Barriere cognitive e comunicative; </a:t>
            </a:r>
            <a:r>
              <a:rPr lang="it-IT" altLang="it-IT" sz="1400" b="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Bp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 = Barriere sensoriali e percettive; </a:t>
            </a:r>
            <a:r>
              <a:rPr lang="it-IT" altLang="it-IT" sz="1400" b="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Bs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 = Barriere culturali e sociali; </a:t>
            </a:r>
            <a:r>
              <a:rPr lang="it-IT" altLang="it-IT" sz="1400" b="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Ba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 = Barriere altre)</a:t>
            </a:r>
          </a:p>
          <a:p>
            <a:pPr marL="452427" indent="-452427" algn="just" eaLnBrk="1" hangingPunct="1">
              <a:defRPr/>
            </a:pP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FC = 	Fattori sociali ( c = Comportamenti; ce = Condizioni economiche; ci = Condizioni delle istituzioni; a = Altro)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EB9DCE63-1632-B86C-DB69-0ECE1878CBBA}"/>
              </a:ext>
            </a:extLst>
          </p:cNvPr>
          <p:cNvSpPr/>
          <p:nvPr/>
        </p:nvSpPr>
        <p:spPr>
          <a:xfrm>
            <a:off x="3439531" y="1494513"/>
            <a:ext cx="2264940" cy="1088619"/>
          </a:xfrm>
          <a:prstGeom prst="rect">
            <a:avLst/>
          </a:prstGeom>
          <a:solidFill>
            <a:srgbClr val="489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>
                <a:latin typeface="HP Simplified Light" panose="020B0404020204020204" pitchFamily="34" charset="0"/>
              </a:rPr>
              <a:t>Fattori</a:t>
            </a:r>
          </a:p>
          <a:p>
            <a:pPr algn="ctr"/>
            <a:r>
              <a:rPr lang="it-IT" sz="1600" b="1" dirty="0">
                <a:latin typeface="HP Simplified Light" panose="020B0404020204020204" pitchFamily="34" charset="0"/>
              </a:rPr>
              <a:t>ambientali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8D26811E-4215-6E5D-F6F0-9913C1DD59FC}"/>
              </a:ext>
            </a:extLst>
          </p:cNvPr>
          <p:cNvSpPr/>
          <p:nvPr/>
        </p:nvSpPr>
        <p:spPr>
          <a:xfrm>
            <a:off x="6247640" y="1494513"/>
            <a:ext cx="2264940" cy="1088619"/>
          </a:xfrm>
          <a:prstGeom prst="rect">
            <a:avLst/>
          </a:prstGeom>
          <a:solidFill>
            <a:srgbClr val="489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>
                <a:latin typeface="HP Simplified Light" panose="020B0404020204020204" pitchFamily="34" charset="0"/>
              </a:rPr>
              <a:t>Fattori</a:t>
            </a:r>
          </a:p>
          <a:p>
            <a:pPr algn="ctr"/>
            <a:r>
              <a:rPr lang="it-IT" sz="1600" b="1" dirty="0">
                <a:latin typeface="HP Simplified Light" panose="020B0404020204020204" pitchFamily="34" charset="0"/>
              </a:rPr>
              <a:t>sociali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8BE79580-E93A-D243-BAFE-5EA958C6F874}"/>
              </a:ext>
            </a:extLst>
          </p:cNvPr>
          <p:cNvSpPr/>
          <p:nvPr/>
        </p:nvSpPr>
        <p:spPr>
          <a:xfrm>
            <a:off x="601832" y="1494513"/>
            <a:ext cx="2264940" cy="1088619"/>
          </a:xfrm>
          <a:prstGeom prst="rect">
            <a:avLst/>
          </a:prstGeom>
          <a:solidFill>
            <a:srgbClr val="489C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>
                <a:latin typeface="HP Simplified Light" panose="020B0404020204020204" pitchFamily="34" charset="0"/>
              </a:rPr>
              <a:t>Fattori</a:t>
            </a:r>
          </a:p>
          <a:p>
            <a:pPr algn="ctr"/>
            <a:r>
              <a:rPr lang="it-IT" sz="1600" b="1" dirty="0">
                <a:latin typeface="HP Simplified Light" panose="020B0404020204020204" pitchFamily="34" charset="0"/>
              </a:rPr>
              <a:t>fisici</a:t>
            </a:r>
          </a:p>
        </p:txBody>
      </p:sp>
      <p:sp>
        <p:nvSpPr>
          <p:cNvPr id="6" name="Segnaposto numero diapositiva 1">
            <a:extLst>
              <a:ext uri="{FF2B5EF4-FFF2-40B4-BE49-F238E27FC236}">
                <a16:creationId xmlns:a16="http://schemas.microsoft.com/office/drawing/2014/main" id="{81094177-1873-E94E-367D-64F523A27E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301" y="6381753"/>
            <a:ext cx="476251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32" indent="-285744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2971" indent="-228594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160" indent="-228594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349" indent="-228594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EEE90F7C-DB35-4B19-AB0F-94BF8DC618DB}" type="slidenum">
              <a:rPr lang="it-IT" altLang="it-IT" sz="1800" b="1">
                <a:solidFill>
                  <a:srgbClr val="489C72"/>
                </a:solidFill>
                <a:latin typeface="HP Simplified Light" panose="020B0404020204020204" pitchFamily="34" charset="0"/>
              </a:rPr>
              <a:pPr algn="ctr">
                <a:spcBef>
                  <a:spcPct val="0"/>
                </a:spcBef>
                <a:buFontTx/>
                <a:buNone/>
              </a:pPr>
              <a:t>7</a:t>
            </a:fld>
            <a:endParaRPr lang="it-IT" altLang="it-IT" sz="2000" b="1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4AEBE911-6C90-A9E4-58B5-4D2FA5643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7018"/>
            <a:ext cx="7902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Adolfo F.L. Baratta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dirty="0">
                <a:solidFill>
                  <a:srgbClr val="489C72"/>
                </a:solidFill>
                <a:latin typeface="HP Simplified Light" panose="020B0404020204020204" pitchFamily="34" charset="0"/>
              </a:rPr>
              <a:t>Sulla disabilità</a:t>
            </a:r>
          </a:p>
        </p:txBody>
      </p:sp>
    </p:spTree>
    <p:extLst>
      <p:ext uri="{BB962C8B-B14F-4D97-AF65-F5344CB8AC3E}">
        <p14:creationId xmlns:p14="http://schemas.microsoft.com/office/powerpoint/2010/main" val="338549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057DF-C0CB-6508-4E75-F7700791D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2" descr="Immagine che contiene esterni, uomo, acqua, inpiedi&#10;&#10;Descrizione generata automaticamente">
            <a:extLst>
              <a:ext uri="{FF2B5EF4-FFF2-40B4-BE49-F238E27FC236}">
                <a16:creationId xmlns:a16="http://schemas.microsoft.com/office/drawing/2014/main" id="{C00E61FD-07A5-2A04-1B5C-D92E106E4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11759" y="0"/>
            <a:ext cx="6729725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0" name="Text Box 2">
            <a:extLst>
              <a:ext uri="{FF2B5EF4-FFF2-40B4-BE49-F238E27FC236}">
                <a16:creationId xmlns:a16="http://schemas.microsoft.com/office/drawing/2014/main" id="{DF3A76CB-FE26-1A31-5C82-3D112F4C5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56205"/>
            <a:ext cx="79025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Fattori ambientali</a:t>
            </a:r>
          </a:p>
        </p:txBody>
      </p:sp>
      <p:sp>
        <p:nvSpPr>
          <p:cNvPr id="6" name="Segnaposto numero diapositiva 1">
            <a:extLst>
              <a:ext uri="{FF2B5EF4-FFF2-40B4-BE49-F238E27FC236}">
                <a16:creationId xmlns:a16="http://schemas.microsoft.com/office/drawing/2014/main" id="{8441BD1C-4FB2-4643-2DCD-4685E5C49E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301" y="6381753"/>
            <a:ext cx="476251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32" indent="-285744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2971" indent="-228594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160" indent="-228594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349" indent="-228594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EEE90F7C-DB35-4B19-AB0F-94BF8DC618DB}" type="slidenum">
              <a:rPr lang="it-IT" altLang="it-IT" sz="1800" b="1">
                <a:solidFill>
                  <a:srgbClr val="489C72"/>
                </a:solidFill>
                <a:latin typeface="HP Simplified Light" panose="020B0404020204020204" pitchFamily="34" charset="0"/>
              </a:rPr>
              <a:pPr algn="ctr">
                <a:spcBef>
                  <a:spcPct val="0"/>
                </a:spcBef>
                <a:buFontTx/>
                <a:buNone/>
              </a:pPr>
              <a:t>8</a:t>
            </a:fld>
            <a:endParaRPr lang="it-IT" altLang="it-IT" sz="2000" b="1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826F74CC-AFB8-48AD-DBB2-804808FFB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7018"/>
            <a:ext cx="7902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b="1" dirty="0">
                <a:solidFill>
                  <a:schemeClr val="bg1"/>
                </a:solidFill>
                <a:latin typeface="HP Simplified Light" panose="020B0404020204020204" pitchFamily="34" charset="0"/>
              </a:rPr>
              <a:t>Adolfo F.L. Baratta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dirty="0">
                <a:solidFill>
                  <a:schemeClr val="bg1"/>
                </a:solidFill>
                <a:latin typeface="HP Simplified Light" panose="020B0404020204020204" pitchFamily="34" charset="0"/>
              </a:rPr>
              <a:t>Sulla disabilità</a:t>
            </a:r>
          </a:p>
        </p:txBody>
      </p:sp>
    </p:spTree>
    <p:extLst>
      <p:ext uri="{BB962C8B-B14F-4D97-AF65-F5344CB8AC3E}">
        <p14:creationId xmlns:p14="http://schemas.microsoft.com/office/powerpoint/2010/main" val="1633765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16B46-F832-8502-49E3-5950FEFCA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309D9A4E-C358-0504-5A70-827FADA78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56205"/>
            <a:ext cx="79025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Fattori ambientali</a:t>
            </a:r>
          </a:p>
        </p:txBody>
      </p:sp>
      <p:pic>
        <p:nvPicPr>
          <p:cNvPr id="1026" name="Picture 2" descr="Image 9 of 10">
            <a:extLst>
              <a:ext uri="{FF2B5EF4-FFF2-40B4-BE49-F238E27FC236}">
                <a16:creationId xmlns:a16="http://schemas.microsoft.com/office/drawing/2014/main" id="{2527F1A1-C268-8F22-CFA4-9912D66D12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13" b="12200"/>
          <a:stretch/>
        </p:blipFill>
        <p:spPr bwMode="auto">
          <a:xfrm>
            <a:off x="0" y="1484312"/>
            <a:ext cx="9144000" cy="4824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Box 11">
            <a:extLst>
              <a:ext uri="{FF2B5EF4-FFF2-40B4-BE49-F238E27FC236}">
                <a16:creationId xmlns:a16="http://schemas.microsoft.com/office/drawing/2014/main" id="{5FEA1CDE-2F47-D36B-71DF-0BF15B363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6001543"/>
            <a:ext cx="386538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Katerina </a:t>
            </a:r>
            <a:r>
              <a:rPr lang="it-IT" altLang="it-IT" sz="140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Kamprani</a:t>
            </a: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, </a:t>
            </a:r>
            <a:r>
              <a:rPr lang="it-IT" altLang="it-IT" sz="140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The </a:t>
            </a:r>
            <a:r>
              <a:rPr lang="it-IT" altLang="it-IT" sz="1400" i="1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Uncomfortable</a:t>
            </a: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, 2024.</a:t>
            </a:r>
          </a:p>
        </p:txBody>
      </p:sp>
      <p:sp>
        <p:nvSpPr>
          <p:cNvPr id="6" name="Segnaposto numero diapositiva 1">
            <a:extLst>
              <a:ext uri="{FF2B5EF4-FFF2-40B4-BE49-F238E27FC236}">
                <a16:creationId xmlns:a16="http://schemas.microsoft.com/office/drawing/2014/main" id="{B8709969-D333-263C-95FF-9F86F3656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301" y="6381753"/>
            <a:ext cx="476251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32" indent="-285744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2971" indent="-228594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160" indent="-228594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349" indent="-228594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EEE90F7C-DB35-4B19-AB0F-94BF8DC618DB}" type="slidenum">
              <a:rPr lang="it-IT" altLang="it-IT" sz="1800" b="1">
                <a:solidFill>
                  <a:srgbClr val="489C72"/>
                </a:solidFill>
                <a:latin typeface="HP Simplified Light" panose="020B0404020204020204" pitchFamily="34" charset="0"/>
              </a:rPr>
              <a:pPr algn="ctr">
                <a:spcBef>
                  <a:spcPct val="0"/>
                </a:spcBef>
                <a:buFontTx/>
                <a:buNone/>
              </a:pPr>
              <a:t>9</a:t>
            </a:fld>
            <a:endParaRPr lang="it-IT" altLang="it-IT" sz="2000" b="1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E8D3B1F9-86D0-883C-DFE7-22BA12751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7018"/>
            <a:ext cx="7902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Adolfo F.L. Baratta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dirty="0">
                <a:solidFill>
                  <a:srgbClr val="489C72"/>
                </a:solidFill>
                <a:latin typeface="HP Simplified Light" panose="020B0404020204020204" pitchFamily="34" charset="0"/>
              </a:rPr>
              <a:t>Sulla disabilità</a:t>
            </a:r>
          </a:p>
        </p:txBody>
      </p:sp>
    </p:spTree>
    <p:extLst>
      <p:ext uri="{BB962C8B-B14F-4D97-AF65-F5344CB8AC3E}">
        <p14:creationId xmlns:p14="http://schemas.microsoft.com/office/powerpoint/2010/main" val="3720051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014B0-3B01-55E3-E204-FE608493B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1">
            <a:extLst>
              <a:ext uri="{FF2B5EF4-FFF2-40B4-BE49-F238E27FC236}">
                <a16:creationId xmlns:a16="http://schemas.microsoft.com/office/drawing/2014/main" id="{561A5DA4-E3CE-54D2-2687-9DE50BF9A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484314"/>
            <a:ext cx="3865563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</a:pP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L’ambiente può costituire un ostacolo alle quotidiane attività della persona.</a:t>
            </a:r>
          </a:p>
          <a:p>
            <a:pPr algn="just" eaLnBrk="1" hangingPunct="1">
              <a:spcBef>
                <a:spcPts val="0"/>
              </a:spcBef>
              <a:buNone/>
            </a:pPr>
            <a:endParaRPr lang="it-IT" altLang="it-IT" sz="1400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  <a:p>
            <a:pPr algn="just" eaLnBrk="1" hangingPunct="1">
              <a:spcBef>
                <a:spcPts val="0"/>
              </a:spcBef>
              <a:buNone/>
            </a:pP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In particolare, è possibile individuare:</a:t>
            </a:r>
          </a:p>
          <a:p>
            <a:pPr algn="just" eaLnBrk="1" hangingPunct="1">
              <a:spcBef>
                <a:spcPts val="0"/>
              </a:spcBef>
              <a:buNone/>
            </a:pPr>
            <a:endParaRPr lang="it-IT" altLang="it-IT" sz="1400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  <a:p>
            <a:pPr marL="177796" indent="-177796" algn="just">
              <a:spcBef>
                <a:spcPts val="0"/>
              </a:spcBef>
              <a:buFontTx/>
              <a:buChar char="-"/>
              <a:defRPr/>
            </a:pP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una </a:t>
            </a: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barriera</a:t>
            </a: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 come ciò che impedisce di svolgere una normale attività di vita;</a:t>
            </a:r>
          </a:p>
          <a:p>
            <a:pPr marL="177796" indent="-177796" algn="just">
              <a:spcBef>
                <a:spcPts val="0"/>
              </a:spcBef>
              <a:buFontTx/>
              <a:buChar char="-"/>
              <a:defRPr/>
            </a:pP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una </a:t>
            </a: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fonte di disagio </a:t>
            </a: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come un ambiente che può generare delle difficoltà nello svolgimento di un’attività;</a:t>
            </a:r>
          </a:p>
          <a:p>
            <a:pPr marL="177796" indent="-177796" algn="just">
              <a:spcBef>
                <a:spcPts val="0"/>
              </a:spcBef>
              <a:buFontTx/>
              <a:buChar char="-"/>
              <a:defRPr/>
            </a:pP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una </a:t>
            </a: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fonte di pericolo </a:t>
            </a: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come un ambiente che può consentire di svolgere un’attività di vita ma a rischio della propria incolumità.</a:t>
            </a:r>
          </a:p>
          <a:p>
            <a:pPr algn="just">
              <a:spcBef>
                <a:spcPts val="0"/>
              </a:spcBef>
              <a:buNone/>
              <a:defRPr/>
            </a:pPr>
            <a:endParaRPr lang="it-IT" altLang="it-IT" sz="1400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  <a:p>
            <a:pPr algn="just">
              <a:spcBef>
                <a:spcPts val="0"/>
              </a:spcBef>
              <a:buNone/>
              <a:defRPr/>
            </a:pP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Queste caratteristiche possono anche coesistere.</a:t>
            </a:r>
          </a:p>
        </p:txBody>
      </p:sp>
      <p:pic>
        <p:nvPicPr>
          <p:cNvPr id="5" name="Immagine 2">
            <a:extLst>
              <a:ext uri="{FF2B5EF4-FFF2-40B4-BE49-F238E27FC236}">
                <a16:creationId xmlns:a16="http://schemas.microsoft.com/office/drawing/2014/main" id="{71D7A4B4-7E25-B744-BEB4-89EAAC3184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75" r="5861" b="5633"/>
          <a:stretch/>
        </p:blipFill>
        <p:spPr bwMode="auto">
          <a:xfrm>
            <a:off x="4643438" y="1484314"/>
            <a:ext cx="4513706" cy="4827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2CDD5483-8907-6124-A2B1-117B9278BD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56205"/>
            <a:ext cx="79025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Fattori ambientali</a:t>
            </a:r>
          </a:p>
        </p:txBody>
      </p:sp>
      <p:sp>
        <p:nvSpPr>
          <p:cNvPr id="7" name="Segnaposto numero diapositiva 1">
            <a:extLst>
              <a:ext uri="{FF2B5EF4-FFF2-40B4-BE49-F238E27FC236}">
                <a16:creationId xmlns:a16="http://schemas.microsoft.com/office/drawing/2014/main" id="{6EC8247F-7125-A144-336A-89DA386EF4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301" y="6381753"/>
            <a:ext cx="476251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32" indent="-285744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2971" indent="-228594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160" indent="-228594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349" indent="-228594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EEE90F7C-DB35-4B19-AB0F-94BF8DC618DB}" type="slidenum">
              <a:rPr lang="it-IT" altLang="it-IT" sz="1800" b="1">
                <a:solidFill>
                  <a:srgbClr val="489C72"/>
                </a:solidFill>
                <a:latin typeface="HP Simplified Light" panose="020B0404020204020204" pitchFamily="34" charset="0"/>
              </a:rPr>
              <a:pPr algn="ctr">
                <a:spcBef>
                  <a:spcPct val="0"/>
                </a:spcBef>
                <a:buFontTx/>
                <a:buNone/>
              </a:pPr>
              <a:t>10</a:t>
            </a:fld>
            <a:endParaRPr lang="it-IT" altLang="it-IT" sz="2000" b="1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1036A660-45D5-7E6B-FB40-93327701E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7018"/>
            <a:ext cx="7902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Adolfo F.L. Baratta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dirty="0">
                <a:solidFill>
                  <a:srgbClr val="489C72"/>
                </a:solidFill>
                <a:latin typeface="HP Simplified Light" panose="020B0404020204020204" pitchFamily="34" charset="0"/>
              </a:rPr>
              <a:t>Sulla disabilità</a:t>
            </a:r>
          </a:p>
        </p:txBody>
      </p:sp>
    </p:spTree>
    <p:extLst>
      <p:ext uri="{BB962C8B-B14F-4D97-AF65-F5344CB8AC3E}">
        <p14:creationId xmlns:p14="http://schemas.microsoft.com/office/powerpoint/2010/main" val="23223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3BB09-1218-09E8-B1F4-35165B12D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D6EA07AB-EA4D-9F90-E9D5-D286906E6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56205"/>
            <a:ext cx="79025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Barriere architettoniche</a:t>
            </a: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4B5118D2-6920-5D94-C44E-56D0496B5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497987"/>
            <a:ext cx="3889375" cy="4185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Per barriere architettoniche si intendono tutti quegli impedimenti che non permettono a una larga fascia di persone di svolgere con continuità e senza grandi disagi una normale attività di vita.</a:t>
            </a:r>
          </a:p>
          <a:p>
            <a:pPr algn="just" eaLnBrk="1" hangingPunct="1">
              <a:spcBef>
                <a:spcPts val="0"/>
              </a:spcBef>
              <a:buNone/>
              <a:defRPr/>
            </a:pP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In particolare, come </a:t>
            </a:r>
            <a:r>
              <a:rPr 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barriere architettoniche</a:t>
            </a: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 possono essere definiti:</a:t>
            </a:r>
          </a:p>
          <a:p>
            <a:pPr marL="342891" indent="-342891" algn="just" eaLnBrk="1" hangingPunct="1">
              <a:spcBef>
                <a:spcPts val="0"/>
              </a:spcBef>
              <a:buFontTx/>
              <a:buAutoNum type="arabicPeriod"/>
              <a:defRPr/>
            </a:pP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le </a:t>
            </a:r>
            <a:r>
              <a:rPr 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soluzioni che limitano o impediscono la mobilità </a:t>
            </a: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di chiunque e, in particolare, di coloro che, per qualsiasi causa, hanno una ridotta capacità motoria o impedita in forma permanente o temporanea;</a:t>
            </a:r>
          </a:p>
          <a:p>
            <a:pPr marL="342891" indent="-342891" algn="just" eaLnBrk="1" hangingPunct="1">
              <a:spcBef>
                <a:spcPts val="0"/>
              </a:spcBef>
              <a:buFontTx/>
              <a:buAutoNum type="arabicPeriod"/>
              <a:defRPr/>
            </a:pP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le </a:t>
            </a:r>
            <a:r>
              <a:rPr 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soluzioni che limitano o impediscono a chiunque la comoda e sicura utilizzazione di parti, attrezzature o componenti</a:t>
            </a: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;</a:t>
            </a:r>
          </a:p>
          <a:p>
            <a:pPr marL="342891" indent="-342891" algn="just" eaLnBrk="1" hangingPunct="1">
              <a:spcBef>
                <a:spcPts val="0"/>
              </a:spcBef>
              <a:buFontTx/>
              <a:buAutoNum type="arabicPeriod"/>
              <a:defRPr/>
            </a:pP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la </a:t>
            </a:r>
            <a:r>
              <a:rPr 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mancanza di accorgimenti e segnalazioni che permettono l’orientamento e la riconoscibilità dei luoghi e delle fonti di pericolo </a:t>
            </a: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per chiunque e, in particolare, per i non vedenti, per gli ipovedenti e per i sordi.</a:t>
            </a:r>
          </a:p>
        </p:txBody>
      </p:sp>
      <p:sp>
        <p:nvSpPr>
          <p:cNvPr id="7" name="Segnaposto numero diapositiva 1">
            <a:extLst>
              <a:ext uri="{FF2B5EF4-FFF2-40B4-BE49-F238E27FC236}">
                <a16:creationId xmlns:a16="http://schemas.microsoft.com/office/drawing/2014/main" id="{549844CB-DF9A-0078-AA71-7D49A93689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301" y="6381753"/>
            <a:ext cx="476251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32" indent="-285744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2971" indent="-228594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160" indent="-228594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349" indent="-228594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EEE90F7C-DB35-4B19-AB0F-94BF8DC618DB}" type="slidenum">
              <a:rPr lang="it-IT" altLang="it-IT" sz="1800" b="1">
                <a:solidFill>
                  <a:srgbClr val="489C72"/>
                </a:solidFill>
                <a:latin typeface="HP Simplified Light" panose="020B0404020204020204" pitchFamily="34" charset="0"/>
              </a:rPr>
              <a:pPr algn="ctr">
                <a:spcBef>
                  <a:spcPct val="0"/>
                </a:spcBef>
                <a:buFontTx/>
                <a:buNone/>
              </a:pPr>
              <a:t>11</a:t>
            </a:fld>
            <a:endParaRPr lang="it-IT" altLang="it-IT" sz="2000" b="1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F2E644AC-F237-2A62-F2DF-CFC16D7DD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7018"/>
            <a:ext cx="7902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Adolfo F.L. Baratta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dirty="0">
                <a:solidFill>
                  <a:srgbClr val="489C72"/>
                </a:solidFill>
                <a:latin typeface="HP Simplified Light" panose="020B0404020204020204" pitchFamily="34" charset="0"/>
              </a:rPr>
              <a:t>Sulla disabilità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DB7EB5FA-F824-CE67-1F68-18A2B4A3B3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5" r="5260"/>
          <a:stretch/>
        </p:blipFill>
        <p:spPr bwMode="auto">
          <a:xfrm>
            <a:off x="4647799" y="1494512"/>
            <a:ext cx="4496201" cy="481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14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7EDCE-00A3-DC5D-96CC-D81E9955F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8D2B32F5-FF19-B27B-F69C-34B43AA93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56205"/>
            <a:ext cx="79025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Barriere cognitive-comunicative</a:t>
            </a: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3282D327-5E06-3F08-6BB9-8903261A8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496403"/>
            <a:ext cx="388937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it-IT" altLang="it-IT" sz="500" dirty="0">
                <a:solidFill>
                  <a:srgbClr val="489C72"/>
                </a:solidFill>
                <a:latin typeface="HP Simplified Light" panose="020B0404020204020204" pitchFamily="34" charset="0"/>
              </a:rPr>
              <a:t>Le soluzioni che limitano o impediscono a chiunque la comoda e sicura utilizzazione di parti, attrezzature o componenti </a:t>
            </a:r>
            <a:r>
              <a:rPr lang="it-IT" altLang="it-IT" sz="50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ovvero mancanza di accorgimenti che non consentono alla persona con disabilità di comunicare direttamente con l’</a:t>
            </a:r>
            <a:r>
              <a:rPr lang="it-IT" altLang="ja-JP" sz="50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erogatore dei servizi, in autonomia o con il supporto di strumenti tecnologici, o comunque con l</a:t>
            </a:r>
            <a:r>
              <a:rPr lang="ja-JP" altLang="it-IT" sz="50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’</a:t>
            </a:r>
            <a:r>
              <a:rPr lang="it-IT" altLang="ja-JP" sz="50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ausilio di un operatore che funge da </a:t>
            </a:r>
            <a:r>
              <a:rPr lang="ja-JP" altLang="it-IT" sz="50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“</a:t>
            </a:r>
            <a:r>
              <a:rPr lang="it-IT" altLang="ja-JP" sz="50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mediatore comunicativo</a:t>
            </a:r>
            <a:r>
              <a:rPr lang="ja-JP" altLang="it-IT" sz="50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”</a:t>
            </a:r>
            <a:r>
              <a:rPr lang="it-IT" altLang="ja-JP" sz="500" dirty="0">
                <a:solidFill>
                  <a:srgbClr val="489C72"/>
                </a:solidFill>
                <a:latin typeface="HP Simplified Light" panose="020B0404020204020204" pitchFamily="34" charset="0"/>
              </a:rPr>
              <a:t>.</a:t>
            </a: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3FF2A941-D5D2-E631-7A42-FE126E1BE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988840"/>
            <a:ext cx="3889375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it-IT" altLang="it-IT" sz="1400" dirty="0">
                <a:solidFill>
                  <a:srgbClr val="FFFF00"/>
                </a:solidFill>
                <a:latin typeface="HP Simplified Light" panose="020B0404020204020204" pitchFamily="34" charset="0"/>
              </a:rPr>
              <a:t>Le soluzioni che limitano o impediscono a chiunque la comoda e sicura utilizzazione di parti, attrezzature o componenti </a:t>
            </a:r>
            <a:r>
              <a:rPr lang="it-IT" altLang="it-IT" sz="1400" i="1" dirty="0">
                <a:solidFill>
                  <a:srgbClr val="FFFF00"/>
                </a:solidFill>
                <a:latin typeface="HP Simplified Light" panose="020B0404020204020204" pitchFamily="34" charset="0"/>
              </a:rPr>
              <a:t>ovvero mancanza di accorgimenti che non consentono alla persona con disabilità di comunicare direttamente con l’</a:t>
            </a:r>
            <a:r>
              <a:rPr lang="it-IT" altLang="ja-JP" sz="1400" i="1" dirty="0">
                <a:solidFill>
                  <a:srgbClr val="FFFF00"/>
                </a:solidFill>
                <a:latin typeface="HP Simplified Light" panose="020B0404020204020204" pitchFamily="34" charset="0"/>
                <a:ea typeface="ＭＳ Ｐゴシック" panose="020B0600070205080204" pitchFamily="34" charset="-128"/>
              </a:rPr>
              <a:t>erogatore dei servizi, in autonomia o con il supporto di strumenti tecnologici, o comunque con l</a:t>
            </a:r>
            <a:r>
              <a:rPr lang="ja-JP" altLang="it-IT" sz="1400" i="1" dirty="0">
                <a:solidFill>
                  <a:srgbClr val="FFFF00"/>
                </a:solidFill>
                <a:latin typeface="HP Simplified Light" panose="020B0404020204020204" pitchFamily="34" charset="0"/>
                <a:ea typeface="ＭＳ Ｐゴシック" panose="020B0600070205080204" pitchFamily="34" charset="-128"/>
              </a:rPr>
              <a:t>’</a:t>
            </a:r>
            <a:r>
              <a:rPr lang="it-IT" altLang="ja-JP" sz="1400" i="1" dirty="0">
                <a:solidFill>
                  <a:srgbClr val="FFFF00"/>
                </a:solidFill>
                <a:latin typeface="HP Simplified Light" panose="020B0404020204020204" pitchFamily="34" charset="0"/>
                <a:ea typeface="ＭＳ Ｐゴシック" panose="020B0600070205080204" pitchFamily="34" charset="-128"/>
              </a:rPr>
              <a:t>ausilio di un operatore che funge da "mediatore comunicativo</a:t>
            </a:r>
            <a:r>
              <a:rPr lang="ja-JP" altLang="it-IT" sz="1400" i="1" dirty="0">
                <a:solidFill>
                  <a:srgbClr val="FFFF00"/>
                </a:solidFill>
                <a:latin typeface="HP Simplified Light" panose="020B0404020204020204" pitchFamily="34" charset="0"/>
                <a:ea typeface="ＭＳ Ｐゴシック" panose="020B0600070205080204" pitchFamily="34" charset="-128"/>
              </a:rPr>
              <a:t>”</a:t>
            </a:r>
            <a:r>
              <a:rPr lang="it-IT" altLang="ja-JP" sz="1400" dirty="0">
                <a:solidFill>
                  <a:srgbClr val="FFFF00"/>
                </a:solidFill>
                <a:latin typeface="HP Simplified Light" panose="020B0404020204020204" pitchFamily="34" charset="0"/>
              </a:rPr>
              <a:t>.</a:t>
            </a:r>
            <a:endParaRPr lang="it-IT" altLang="it-IT" sz="1400" dirty="0">
              <a:solidFill>
                <a:srgbClr val="FFFF00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EE5AD030-A00D-032C-4598-9C1135092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9" y="3861048"/>
            <a:ext cx="3889374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  <a:reflection blurRad="6350" stA="50000" endA="300" endPos="90000" dir="5400000" sy="-100000" algn="bl" rotWithShape="0"/>
            <a:softEdge rad="635000"/>
          </a:effectLst>
          <a:scene3d>
            <a:camera prst="perspectiveRelaxed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pPr algn="just" eaLnBrk="1" hangingPunct="1">
              <a:defRPr/>
            </a:pP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Le soluzioni che limitano o impediscono a chiunque la comoda e sicura utilizzazione di parti, attrezzature o componenti </a:t>
            </a:r>
            <a:r>
              <a:rPr lang="it-IT" sz="140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ovvero mancanza di accorgimenti che non consentono alla persona con disabilità di comunicare direttamente con l’</a:t>
            </a:r>
            <a:r>
              <a:rPr lang="it-IT" altLang="ja-JP" sz="140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erogatore dei servizi, in autonomia o con il supporto di strumenti tecnologici, o comunque con l</a:t>
            </a:r>
            <a:r>
              <a:rPr lang="ja-JP" altLang="it-IT" sz="140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’</a:t>
            </a:r>
            <a:r>
              <a:rPr lang="it-IT" altLang="ja-JP" sz="140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ausilio di un operatore che funge da </a:t>
            </a:r>
            <a:r>
              <a:rPr lang="ja-JP" altLang="it-IT" sz="140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“</a:t>
            </a:r>
            <a:r>
              <a:rPr lang="it-IT" altLang="ja-JP" sz="140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mediatore comunicativo</a:t>
            </a:r>
            <a:r>
              <a:rPr lang="ja-JP" altLang="it-IT" sz="140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”</a:t>
            </a:r>
            <a:r>
              <a:rPr lang="it-IT" altLang="ja-JP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.</a:t>
            </a:r>
            <a:endParaRPr lang="it-IT" altLang="it-IT" sz="1400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8C16868-9014-59CF-2AD0-C8AFD1269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4" r="10084"/>
          <a:stretch/>
        </p:blipFill>
        <p:spPr bwMode="auto">
          <a:xfrm>
            <a:off x="4643439" y="1496998"/>
            <a:ext cx="3870324" cy="4812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egnaposto numero diapositiva 1">
            <a:extLst>
              <a:ext uri="{FF2B5EF4-FFF2-40B4-BE49-F238E27FC236}">
                <a16:creationId xmlns:a16="http://schemas.microsoft.com/office/drawing/2014/main" id="{AE981198-ED3F-06B2-392A-86144F7A4E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301" y="6381753"/>
            <a:ext cx="476251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32" indent="-285744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2971" indent="-228594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160" indent="-228594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349" indent="-228594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EEE90F7C-DB35-4B19-AB0F-94BF8DC618DB}" type="slidenum">
              <a:rPr lang="it-IT" altLang="it-IT" sz="1800" b="1">
                <a:solidFill>
                  <a:srgbClr val="489C72"/>
                </a:solidFill>
                <a:latin typeface="HP Simplified Light" panose="020B0404020204020204" pitchFamily="34" charset="0"/>
              </a:rPr>
              <a:pPr algn="ctr">
                <a:spcBef>
                  <a:spcPct val="0"/>
                </a:spcBef>
                <a:buFontTx/>
                <a:buNone/>
              </a:pPr>
              <a:t>12</a:t>
            </a:fld>
            <a:endParaRPr lang="it-IT" altLang="it-IT" sz="2000" b="1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1DC559CC-E0B0-C9AA-47E0-53D5E24EA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7018"/>
            <a:ext cx="7902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Adolfo F.L. Baratta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dirty="0">
                <a:solidFill>
                  <a:srgbClr val="489C72"/>
                </a:solidFill>
                <a:latin typeface="HP Simplified Light" panose="020B0404020204020204" pitchFamily="34" charset="0"/>
              </a:rPr>
              <a:t>Sulla disabilità</a:t>
            </a:r>
          </a:p>
        </p:txBody>
      </p:sp>
    </p:spTree>
    <p:extLst>
      <p:ext uri="{BB962C8B-B14F-4D97-AF65-F5344CB8AC3E}">
        <p14:creationId xmlns:p14="http://schemas.microsoft.com/office/powerpoint/2010/main" val="125573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DF9C6-C875-4CE6-AC6C-6089EC9A0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pavimento, interni, soffitto, parete&#10;&#10;Descrizione generata con affidabilità molto elevata">
            <a:extLst>
              <a:ext uri="{FF2B5EF4-FFF2-40B4-BE49-F238E27FC236}">
                <a16:creationId xmlns:a16="http://schemas.microsoft.com/office/drawing/2014/main" id="{E058B887-3E7C-EABF-BBDF-AAD49DBC2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" t="18899" r="3301" b="4892"/>
          <a:stretch/>
        </p:blipFill>
        <p:spPr bwMode="auto">
          <a:xfrm>
            <a:off x="611187" y="1484314"/>
            <a:ext cx="7902575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11">
            <a:extLst>
              <a:ext uri="{FF2B5EF4-FFF2-40B4-BE49-F238E27FC236}">
                <a16:creationId xmlns:a16="http://schemas.microsoft.com/office/drawing/2014/main" id="{ABF1E30F-C7A7-6B8B-31B0-BFC6F4F46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1369" y="5949280"/>
            <a:ext cx="71723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it-IT" altLang="it-IT" sz="1400" dirty="0">
                <a:solidFill>
                  <a:schemeClr val="bg1"/>
                </a:solidFill>
                <a:latin typeface="HP Simplified Light" panose="020B0404020204020204" pitchFamily="34" charset="0"/>
              </a:rPr>
              <a:t>Orientarsi in un ambiente sconosciuto e in uno stato d'animo agitato non è facile ..</a:t>
            </a:r>
            <a:r>
              <a:rPr lang="es-ES" altLang="it-IT" sz="1400" dirty="0">
                <a:solidFill>
                  <a:schemeClr val="bg1"/>
                </a:solidFill>
                <a:latin typeface="HP Simplified Light" panose="020B0404020204020204" pitchFamily="34" charset="0"/>
              </a:rPr>
              <a:t>.</a:t>
            </a:r>
            <a:endParaRPr lang="it-IT" altLang="it-IT" sz="1400" dirty="0">
              <a:solidFill>
                <a:schemeClr val="bg1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56F1D66A-376D-6983-36DE-B2F710C7E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56205"/>
            <a:ext cx="79025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Barriere cognitive-comunicative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1AE2F41C-5718-890B-5FF2-C28681D2F0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301" y="6381753"/>
            <a:ext cx="476251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32" indent="-285744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2971" indent="-228594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160" indent="-228594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349" indent="-228594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EEE90F7C-DB35-4B19-AB0F-94BF8DC618DB}" type="slidenum">
              <a:rPr lang="it-IT" altLang="it-IT" sz="1800" b="1">
                <a:solidFill>
                  <a:srgbClr val="489C72"/>
                </a:solidFill>
                <a:latin typeface="HP Simplified Light" panose="020B0404020204020204" pitchFamily="34" charset="0"/>
              </a:rPr>
              <a:pPr algn="ctr">
                <a:spcBef>
                  <a:spcPct val="0"/>
                </a:spcBef>
                <a:buFontTx/>
                <a:buNone/>
              </a:pPr>
              <a:t>13</a:t>
            </a:fld>
            <a:endParaRPr lang="it-IT" altLang="it-IT" sz="2000" b="1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AB5977B-03FA-19C0-0BF9-1806CC597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7018"/>
            <a:ext cx="7902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Adolfo F.L. Baratta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dirty="0">
                <a:solidFill>
                  <a:srgbClr val="489C72"/>
                </a:solidFill>
                <a:latin typeface="HP Simplified Light" panose="020B0404020204020204" pitchFamily="34" charset="0"/>
              </a:rPr>
              <a:t>Sulla disabilità</a:t>
            </a:r>
          </a:p>
        </p:txBody>
      </p:sp>
    </p:spTree>
    <p:extLst>
      <p:ext uri="{BB962C8B-B14F-4D97-AF65-F5344CB8AC3E}">
        <p14:creationId xmlns:p14="http://schemas.microsoft.com/office/powerpoint/2010/main" val="3649773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51055-0292-A7BA-C368-4C33C182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99CA2E8-83B8-FC72-836D-17C208021BE7}"/>
              </a:ext>
            </a:extLst>
          </p:cNvPr>
          <p:cNvSpPr txBox="1"/>
          <p:nvPr/>
        </p:nvSpPr>
        <p:spPr>
          <a:xfrm>
            <a:off x="611187" y="1494042"/>
            <a:ext cx="38893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40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Clet</a:t>
            </a: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 Abraham, artista francese attivo in Italia dal 1990, sostiene che le nostre strade siano caratterizzate da un numero eccessivo di cartelli: l’</a:t>
            </a:r>
            <a:r>
              <a:rPr 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inquinamento informativo</a:t>
            </a: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 rende molti di questi cartelli inutili e </a:t>
            </a:r>
            <a:r>
              <a:rPr lang="it-IT" sz="140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Clet</a:t>
            </a: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 lo dimostra trasformandoli in opere d’arte.</a:t>
            </a:r>
          </a:p>
        </p:txBody>
      </p:sp>
      <p:pic>
        <p:nvPicPr>
          <p:cNvPr id="1028" name="Picture 4" descr="italy firenze roadsign clet-abraham">
            <a:extLst>
              <a:ext uri="{FF2B5EF4-FFF2-40B4-BE49-F238E27FC236}">
                <a16:creationId xmlns:a16="http://schemas.microsoft.com/office/drawing/2014/main" id="{BACB60AE-AE19-2BC3-9CB2-87219EF031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18" r="33966"/>
          <a:stretch/>
        </p:blipFill>
        <p:spPr bwMode="auto">
          <a:xfrm>
            <a:off x="4643438" y="1494041"/>
            <a:ext cx="4500562" cy="4814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5FA8079F-2108-A6D9-7338-99C97BF0F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56205"/>
            <a:ext cx="79025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Barriere cognitive-comunicative</a:t>
            </a:r>
          </a:p>
        </p:txBody>
      </p:sp>
      <p:sp>
        <p:nvSpPr>
          <p:cNvPr id="4" name="Segnaposto numero diapositiva 1">
            <a:extLst>
              <a:ext uri="{FF2B5EF4-FFF2-40B4-BE49-F238E27FC236}">
                <a16:creationId xmlns:a16="http://schemas.microsoft.com/office/drawing/2014/main" id="{0301B8AC-2EB4-C98B-2024-70174C00CC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301" y="6381753"/>
            <a:ext cx="476251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32" indent="-285744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2971" indent="-228594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160" indent="-228594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349" indent="-228594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EEE90F7C-DB35-4B19-AB0F-94BF8DC618DB}" type="slidenum">
              <a:rPr lang="it-IT" altLang="it-IT" sz="1800" b="1">
                <a:solidFill>
                  <a:srgbClr val="489C72"/>
                </a:solidFill>
                <a:latin typeface="HP Simplified Light" panose="020B0404020204020204" pitchFamily="34" charset="0"/>
              </a:rPr>
              <a:pPr algn="ctr">
                <a:spcBef>
                  <a:spcPct val="0"/>
                </a:spcBef>
                <a:buFontTx/>
                <a:buNone/>
              </a:pPr>
              <a:t>14</a:t>
            </a:fld>
            <a:endParaRPr lang="it-IT" altLang="it-IT" sz="2000" b="1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D3FB4458-B8C4-3884-963B-908577566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7018"/>
            <a:ext cx="7902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Adolfo F.L. Baratta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dirty="0">
                <a:solidFill>
                  <a:srgbClr val="489C72"/>
                </a:solidFill>
                <a:latin typeface="HP Simplified Light" panose="020B0404020204020204" pitchFamily="34" charset="0"/>
              </a:rPr>
              <a:t>Sulla disabilità</a:t>
            </a:r>
          </a:p>
        </p:txBody>
      </p:sp>
    </p:spTree>
    <p:extLst>
      <p:ext uri="{BB962C8B-B14F-4D97-AF65-F5344CB8AC3E}">
        <p14:creationId xmlns:p14="http://schemas.microsoft.com/office/powerpoint/2010/main" val="2641343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1DF6A-BD23-5DE9-F5C8-9A2A233ED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F24A86B7-F8EA-54E4-E05A-8E3C95BF7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344" y="756205"/>
            <a:ext cx="790541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Barriere sensoriali e percettive</a:t>
            </a: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3DC30454-B1F4-61E4-EB18-E0CF8C07D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7" y="1494512"/>
            <a:ext cx="3889375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La mancanza di </a:t>
            </a: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accorgimenti e segnalazioni che permettono l’orientamento e la riconoscibilità dei luoghi e delle fonti di pericolo </a:t>
            </a: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per chiunque e, in particolare, per le persone cieche, ipovedenti e sorde.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it-IT" altLang="it-IT" sz="1400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Il tema delle barriere percettive è legato alla leggibilità dell’ambiente costruito interessando quindi, in particolare, le persone ipovedenti o cieche, oltre che le persone con disabilità intellettiva (difficoltà di memoria, apprendimento o comprensione).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it-IT" altLang="it-IT" sz="1400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Si tratta, in sostanza, di </a:t>
            </a: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barriere architettoniche invisibili</a:t>
            </a: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.</a:t>
            </a:r>
          </a:p>
        </p:txBody>
      </p:sp>
      <p:pic>
        <p:nvPicPr>
          <p:cNvPr id="6" name="Immagine 6" descr="Immagine che contiene parete, interni, pavimento, tavolo&#10;&#10;Descrizione generata con affidabilità molto elevata">
            <a:extLst>
              <a:ext uri="{FF2B5EF4-FFF2-40B4-BE49-F238E27FC236}">
                <a16:creationId xmlns:a16="http://schemas.microsoft.com/office/drawing/2014/main" id="{97133013-005C-6F25-C594-34CCCBE2D4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" t="-105" r="33728" b="-1"/>
          <a:stretch/>
        </p:blipFill>
        <p:spPr bwMode="auto">
          <a:xfrm>
            <a:off x="4643438" y="1484313"/>
            <a:ext cx="4498162" cy="4833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3">
            <a:extLst>
              <a:ext uri="{FF2B5EF4-FFF2-40B4-BE49-F238E27FC236}">
                <a16:creationId xmlns:a16="http://schemas.microsoft.com/office/drawing/2014/main" id="{4A611B43-447D-0C5E-04BE-4801E5E7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44" y="6001543"/>
            <a:ext cx="38809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40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Abitazione privata</a:t>
            </a: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, Torino 2007.</a:t>
            </a:r>
          </a:p>
        </p:txBody>
      </p:sp>
      <p:sp>
        <p:nvSpPr>
          <p:cNvPr id="8" name="Segnaposto numero diapositiva 1">
            <a:extLst>
              <a:ext uri="{FF2B5EF4-FFF2-40B4-BE49-F238E27FC236}">
                <a16:creationId xmlns:a16="http://schemas.microsoft.com/office/drawing/2014/main" id="{C6A9CC3D-3163-3602-F345-00A615EDE7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301" y="6381753"/>
            <a:ext cx="476251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32" indent="-285744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2971" indent="-228594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160" indent="-228594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349" indent="-228594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EEE90F7C-DB35-4B19-AB0F-94BF8DC618DB}" type="slidenum">
              <a:rPr lang="it-IT" altLang="it-IT" sz="1800" b="1">
                <a:solidFill>
                  <a:srgbClr val="489C72"/>
                </a:solidFill>
                <a:latin typeface="HP Simplified Light" panose="020B0404020204020204" pitchFamily="34" charset="0"/>
              </a:rPr>
              <a:pPr algn="ctr">
                <a:spcBef>
                  <a:spcPct val="0"/>
                </a:spcBef>
                <a:buFontTx/>
                <a:buNone/>
              </a:pPr>
              <a:t>15</a:t>
            </a:fld>
            <a:endParaRPr lang="it-IT" altLang="it-IT" sz="2000" b="1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BFA0A010-D435-9236-9154-425CF7994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7018"/>
            <a:ext cx="7902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Adolfo F.L. Baratta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dirty="0">
                <a:solidFill>
                  <a:srgbClr val="489C72"/>
                </a:solidFill>
                <a:latin typeface="HP Simplified Light" panose="020B0404020204020204" pitchFamily="34" charset="0"/>
              </a:rPr>
              <a:t>Sulla disabilità</a:t>
            </a:r>
          </a:p>
        </p:txBody>
      </p:sp>
    </p:spTree>
    <p:extLst>
      <p:ext uri="{BB962C8B-B14F-4D97-AF65-F5344CB8AC3E}">
        <p14:creationId xmlns:p14="http://schemas.microsoft.com/office/powerpoint/2010/main" val="19125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51E27-8DA8-4D5A-1BC8-BDA1B112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A2618E58-3D21-D175-6C40-310286FB4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56205"/>
            <a:ext cx="79025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Barriere culturali e sociali</a:t>
            </a: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C5B80D05-0897-6C2D-7DC6-D3A1B4E91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484314"/>
            <a:ext cx="3889375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Per barriera sociale si intende la </a:t>
            </a: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mancanza di accessibilità sociale e politica, equità e selettività sociale, la mancanza di sensibilità verso un aspetto che porta alla discriminazione e all’esclusione sociale</a:t>
            </a: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it-IT" altLang="it-IT" sz="1400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La prima barriera sociale è quella che non consente l’accesso ai servizi per tutte le persone: sono la </a:t>
            </a: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causa dell’isolamento delle persone </a:t>
            </a: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(o categorie di persone) dal resto della società; le frontiere culturali sono invece quelle barriere che, delimitando l’ambiente sociale, operano una netta divisione nelle sue componenti etniche, religiose, etc.</a:t>
            </a: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DE1A4626-219C-E3A6-D5B3-4C93CAB3B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99" y="6001543"/>
            <a:ext cx="38893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Katerina </a:t>
            </a:r>
            <a:r>
              <a:rPr lang="it-IT" altLang="it-IT" sz="1400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Kamprani</a:t>
            </a: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, </a:t>
            </a:r>
            <a:r>
              <a:rPr lang="it-IT" altLang="it-IT" sz="140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The </a:t>
            </a:r>
            <a:r>
              <a:rPr lang="it-IT" altLang="it-IT" sz="1400" i="1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Uncomfortable</a:t>
            </a: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, 2024.</a:t>
            </a:r>
          </a:p>
        </p:txBody>
      </p:sp>
      <p:pic>
        <p:nvPicPr>
          <p:cNvPr id="6" name="Immagine 5" descr="Immagine che contiene arredo, sedia, design&#10;&#10;Il contenuto generato dall'IA potrebbe non essere corretto.">
            <a:extLst>
              <a:ext uri="{FF2B5EF4-FFF2-40B4-BE49-F238E27FC236}">
                <a16:creationId xmlns:a16="http://schemas.microsoft.com/office/drawing/2014/main" id="{56586BF5-82AA-6670-B07A-D02A6AC2B4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7" r="3157"/>
          <a:stretch/>
        </p:blipFill>
        <p:spPr>
          <a:xfrm>
            <a:off x="4650354" y="1484314"/>
            <a:ext cx="4493646" cy="4824411"/>
          </a:xfrm>
          <a:prstGeom prst="rect">
            <a:avLst/>
          </a:prstGeom>
        </p:spPr>
      </p:pic>
      <p:sp>
        <p:nvSpPr>
          <p:cNvPr id="8" name="Segnaposto numero diapositiva 1">
            <a:extLst>
              <a:ext uri="{FF2B5EF4-FFF2-40B4-BE49-F238E27FC236}">
                <a16:creationId xmlns:a16="http://schemas.microsoft.com/office/drawing/2014/main" id="{B549A0AF-3023-1A38-E251-C0F80BE060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301" y="6381753"/>
            <a:ext cx="476251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32" indent="-285744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2971" indent="-228594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160" indent="-228594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349" indent="-228594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EEE90F7C-DB35-4B19-AB0F-94BF8DC618DB}" type="slidenum">
              <a:rPr lang="it-IT" altLang="it-IT" sz="1800" b="1">
                <a:solidFill>
                  <a:srgbClr val="489C72"/>
                </a:solidFill>
                <a:latin typeface="HP Simplified Light" panose="020B0404020204020204" pitchFamily="34" charset="0"/>
              </a:rPr>
              <a:pPr algn="ctr">
                <a:spcBef>
                  <a:spcPct val="0"/>
                </a:spcBef>
                <a:buFontTx/>
                <a:buNone/>
              </a:pPr>
              <a:t>16</a:t>
            </a:fld>
            <a:endParaRPr lang="it-IT" altLang="it-IT" sz="2000" b="1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F7AE5DED-69B3-7E06-373D-15FEAFB40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7018"/>
            <a:ext cx="7902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Adolfo F.L. Baratta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dirty="0">
                <a:solidFill>
                  <a:srgbClr val="489C72"/>
                </a:solidFill>
                <a:latin typeface="HP Simplified Light" panose="020B0404020204020204" pitchFamily="34" charset="0"/>
              </a:rPr>
              <a:t>Sulla disabilità</a:t>
            </a:r>
          </a:p>
        </p:txBody>
      </p:sp>
    </p:spTree>
    <p:extLst>
      <p:ext uri="{BB962C8B-B14F-4D97-AF65-F5344CB8AC3E}">
        <p14:creationId xmlns:p14="http://schemas.microsoft.com/office/powerpoint/2010/main" val="4185519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1F590-D202-A1B3-8D66-D6E09536A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8FE38090-EBF1-4D91-A65C-B113019EB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56205"/>
            <a:ext cx="79025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Iceberg delle iniquità</a:t>
            </a:r>
          </a:p>
        </p:txBody>
      </p:sp>
      <p:sp>
        <p:nvSpPr>
          <p:cNvPr id="6" name="Segnaposto numero diapositiva 1">
            <a:extLst>
              <a:ext uri="{FF2B5EF4-FFF2-40B4-BE49-F238E27FC236}">
                <a16:creationId xmlns:a16="http://schemas.microsoft.com/office/drawing/2014/main" id="{70B3B06F-D7E9-859E-DD57-B2C5F9B1D0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301" y="6381753"/>
            <a:ext cx="476251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32" indent="-285744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2971" indent="-228594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160" indent="-228594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349" indent="-228594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EEE90F7C-DB35-4B19-AB0F-94BF8DC618DB}" type="slidenum">
              <a:rPr lang="it-IT" altLang="it-IT" sz="1800" b="1">
                <a:solidFill>
                  <a:srgbClr val="489C72"/>
                </a:solidFill>
                <a:latin typeface="HP Simplified Light" panose="020B0404020204020204" pitchFamily="34" charset="0"/>
              </a:rPr>
              <a:pPr algn="ctr">
                <a:spcBef>
                  <a:spcPct val="0"/>
                </a:spcBef>
                <a:buFontTx/>
                <a:buNone/>
              </a:pPr>
              <a:t>17</a:t>
            </a:fld>
            <a:endParaRPr lang="it-IT" altLang="it-IT" sz="2000" b="1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55059999-BA0E-50C9-ED26-367B8E15F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7018"/>
            <a:ext cx="7902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Adolfo F.L. Baratta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dirty="0">
                <a:solidFill>
                  <a:srgbClr val="489C72"/>
                </a:solidFill>
                <a:latin typeface="HP Simplified Light" panose="020B0404020204020204" pitchFamily="34" charset="0"/>
              </a:rPr>
              <a:t>Sulla disabilità</a:t>
            </a:r>
          </a:p>
        </p:txBody>
      </p:sp>
      <p:sp>
        <p:nvSpPr>
          <p:cNvPr id="2" name="Triangolo isoscele 1">
            <a:extLst>
              <a:ext uri="{FF2B5EF4-FFF2-40B4-BE49-F238E27FC236}">
                <a16:creationId xmlns:a16="http://schemas.microsoft.com/office/drawing/2014/main" id="{0794F173-E03E-919C-F641-1CB566AA629F}"/>
              </a:ext>
            </a:extLst>
          </p:cNvPr>
          <p:cNvSpPr/>
          <p:nvPr/>
        </p:nvSpPr>
        <p:spPr>
          <a:xfrm>
            <a:off x="5148263" y="4616450"/>
            <a:ext cx="1655762" cy="1692275"/>
          </a:xfrm>
          <a:prstGeom prst="triangle">
            <a:avLst/>
          </a:prstGeom>
          <a:solidFill>
            <a:srgbClr val="477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 sz="1400" b="0" dirty="0">
              <a:latin typeface="HP Simplified Light" panose="020B0404020204020204" pitchFamily="34" charset="0"/>
            </a:endParaRPr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FF39173A-8894-6B96-AB66-534B90378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183063"/>
            <a:ext cx="338455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Bisogni primari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it-IT" altLang="it-IT" sz="1400" b="0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Libertà fondamentali</a:t>
            </a: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3E0BE221-0ADF-9812-A4BB-C5DE0977D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5995988"/>
            <a:ext cx="15128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1400" b="0">
                <a:solidFill>
                  <a:schemeClr val="bg1"/>
                </a:solidFill>
                <a:latin typeface="HP Simplified Light" panose="020B0404020204020204" pitchFamily="34" charset="0"/>
              </a:rPr>
              <a:t>Partecipazione civica</a:t>
            </a:r>
          </a:p>
        </p:txBody>
      </p:sp>
      <p:sp>
        <p:nvSpPr>
          <p:cNvPr id="8" name="Triangolo isoscele 7">
            <a:extLst>
              <a:ext uri="{FF2B5EF4-FFF2-40B4-BE49-F238E27FC236}">
                <a16:creationId xmlns:a16="http://schemas.microsoft.com/office/drawing/2014/main" id="{37D65C8E-5F64-91FE-1249-FE407A2DB464}"/>
              </a:ext>
            </a:extLst>
          </p:cNvPr>
          <p:cNvSpPr/>
          <p:nvPr/>
        </p:nvSpPr>
        <p:spPr>
          <a:xfrm>
            <a:off x="6875463" y="4616450"/>
            <a:ext cx="1657350" cy="1692275"/>
          </a:xfrm>
          <a:prstGeom prst="triangle">
            <a:avLst/>
          </a:prstGeom>
          <a:solidFill>
            <a:srgbClr val="477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 sz="1400" b="0" dirty="0">
              <a:latin typeface="HP Simplified Light" panose="020B0404020204020204" pitchFamily="34" charset="0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CECB2969-2B88-7DD9-2B92-240118385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5995988"/>
            <a:ext cx="15113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1400" b="0">
                <a:solidFill>
                  <a:schemeClr val="bg1"/>
                </a:solidFill>
                <a:latin typeface="HP Simplified Light" panose="020B0404020204020204" pitchFamily="34" charset="0"/>
              </a:rPr>
              <a:t>Sensibilizzazione</a:t>
            </a:r>
          </a:p>
        </p:txBody>
      </p:sp>
      <p:sp>
        <p:nvSpPr>
          <p:cNvPr id="10" name="Triangolo isoscele 9">
            <a:extLst>
              <a:ext uri="{FF2B5EF4-FFF2-40B4-BE49-F238E27FC236}">
                <a16:creationId xmlns:a16="http://schemas.microsoft.com/office/drawing/2014/main" id="{7971979E-28C5-DDF9-0C9D-C841F3F46FD1}"/>
              </a:ext>
            </a:extLst>
          </p:cNvPr>
          <p:cNvSpPr/>
          <p:nvPr/>
        </p:nvSpPr>
        <p:spPr>
          <a:xfrm>
            <a:off x="3419475" y="4624388"/>
            <a:ext cx="1657350" cy="1692275"/>
          </a:xfrm>
          <a:prstGeom prst="triangle">
            <a:avLst/>
          </a:prstGeom>
          <a:solidFill>
            <a:srgbClr val="477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 sz="1400" b="0" dirty="0">
              <a:latin typeface="HP Simplified Light" panose="020B0404020204020204" pitchFamily="34" charset="0"/>
            </a:endParaRP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A72A19A4-7EA5-E6E2-D365-14C2B78D6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5995988"/>
            <a:ext cx="15113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1400" b="0">
                <a:solidFill>
                  <a:schemeClr val="bg1"/>
                </a:solidFill>
                <a:latin typeface="HP Simplified Light" panose="020B0404020204020204" pitchFamily="34" charset="0"/>
              </a:rPr>
              <a:t>Accessibilità</a:t>
            </a:r>
          </a:p>
        </p:txBody>
      </p:sp>
      <p:sp>
        <p:nvSpPr>
          <p:cNvPr id="12" name="Triangolo isoscele 11">
            <a:extLst>
              <a:ext uri="{FF2B5EF4-FFF2-40B4-BE49-F238E27FC236}">
                <a16:creationId xmlns:a16="http://schemas.microsoft.com/office/drawing/2014/main" id="{19C65DFB-F8BD-3251-1022-CE59948CD2D1}"/>
              </a:ext>
            </a:extLst>
          </p:cNvPr>
          <p:cNvSpPr/>
          <p:nvPr/>
        </p:nvSpPr>
        <p:spPr>
          <a:xfrm rot="10800000">
            <a:off x="4284663" y="4579938"/>
            <a:ext cx="1655762" cy="1693862"/>
          </a:xfrm>
          <a:prstGeom prst="triangle">
            <a:avLst/>
          </a:prstGeom>
          <a:solidFill>
            <a:srgbClr val="477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 sz="1400" b="0" dirty="0">
              <a:latin typeface="HP Simplified Light" panose="020B0404020204020204" pitchFamily="34" charset="0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EA9852ED-45CA-B21E-0A54-9C29E3BA7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4627563"/>
            <a:ext cx="15113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1400" b="0">
                <a:solidFill>
                  <a:schemeClr val="bg1"/>
                </a:solidFill>
                <a:latin typeface="HP Simplified Light" panose="020B0404020204020204" pitchFamily="34" charset="0"/>
              </a:rPr>
              <a:t>Indipendenza</a:t>
            </a:r>
          </a:p>
        </p:txBody>
      </p:sp>
      <p:sp>
        <p:nvSpPr>
          <p:cNvPr id="14" name="Triangolo isoscele 13">
            <a:extLst>
              <a:ext uri="{FF2B5EF4-FFF2-40B4-BE49-F238E27FC236}">
                <a16:creationId xmlns:a16="http://schemas.microsoft.com/office/drawing/2014/main" id="{84F0385F-07F4-C51E-1EF6-BBEC43B58FDB}"/>
              </a:ext>
            </a:extLst>
          </p:cNvPr>
          <p:cNvSpPr/>
          <p:nvPr/>
        </p:nvSpPr>
        <p:spPr>
          <a:xfrm rot="10800000">
            <a:off x="6011863" y="4579938"/>
            <a:ext cx="1655762" cy="1693862"/>
          </a:xfrm>
          <a:prstGeom prst="triangle">
            <a:avLst/>
          </a:prstGeom>
          <a:solidFill>
            <a:srgbClr val="477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 sz="1400" b="0" dirty="0">
              <a:latin typeface="HP Simplified Light" panose="020B0404020204020204" pitchFamily="34" charset="0"/>
            </a:endParaRP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99DF32FF-5E1C-DECE-15AA-55EA1501C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4627563"/>
            <a:ext cx="15113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1400" b="0">
                <a:solidFill>
                  <a:schemeClr val="bg1"/>
                </a:solidFill>
                <a:latin typeface="HP Simplified Light" panose="020B0404020204020204" pitchFamily="34" charset="0"/>
              </a:rPr>
              <a:t>Mobilità</a:t>
            </a:r>
          </a:p>
        </p:txBody>
      </p:sp>
      <p:sp>
        <p:nvSpPr>
          <p:cNvPr id="16" name="Triangolo isoscele 15">
            <a:extLst>
              <a:ext uri="{FF2B5EF4-FFF2-40B4-BE49-F238E27FC236}">
                <a16:creationId xmlns:a16="http://schemas.microsoft.com/office/drawing/2014/main" id="{451C9766-DC62-0E67-157B-75F84347F00A}"/>
              </a:ext>
            </a:extLst>
          </p:cNvPr>
          <p:cNvSpPr/>
          <p:nvPr/>
        </p:nvSpPr>
        <p:spPr>
          <a:xfrm>
            <a:off x="6011863" y="2816225"/>
            <a:ext cx="1655762" cy="1692275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 sz="1400" b="0" dirty="0">
              <a:latin typeface="HP Simplified Light" panose="020B0404020204020204" pitchFamily="34" charset="0"/>
            </a:endParaRPr>
          </a:p>
        </p:txBody>
      </p:sp>
      <p:sp>
        <p:nvSpPr>
          <p:cNvPr id="17" name="Text Box 8">
            <a:extLst>
              <a:ext uri="{FF2B5EF4-FFF2-40B4-BE49-F238E27FC236}">
                <a16:creationId xmlns:a16="http://schemas.microsoft.com/office/drawing/2014/main" id="{FF47EAAF-759C-AB52-FD60-59CFF2618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4195763"/>
            <a:ext cx="15113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1400" b="0">
                <a:solidFill>
                  <a:schemeClr val="bg1"/>
                </a:solidFill>
                <a:latin typeface="HP Simplified Light" panose="020B0404020204020204" pitchFamily="34" charset="0"/>
              </a:rPr>
              <a:t>Occupazione</a:t>
            </a:r>
          </a:p>
        </p:txBody>
      </p:sp>
      <p:sp>
        <p:nvSpPr>
          <p:cNvPr id="18" name="Triangolo isoscele 17">
            <a:extLst>
              <a:ext uri="{FF2B5EF4-FFF2-40B4-BE49-F238E27FC236}">
                <a16:creationId xmlns:a16="http://schemas.microsoft.com/office/drawing/2014/main" id="{07EFA433-AA96-3272-777B-D16852322A4E}"/>
              </a:ext>
            </a:extLst>
          </p:cNvPr>
          <p:cNvSpPr/>
          <p:nvPr/>
        </p:nvSpPr>
        <p:spPr>
          <a:xfrm>
            <a:off x="4284663" y="2816225"/>
            <a:ext cx="1655762" cy="1692275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 sz="1400" b="0" dirty="0">
              <a:latin typeface="HP Simplified Light" panose="020B0404020204020204" pitchFamily="34" charset="0"/>
            </a:endParaRPr>
          </a:p>
        </p:txBody>
      </p:sp>
      <p:sp>
        <p:nvSpPr>
          <p:cNvPr id="19" name="Text Box 8">
            <a:extLst>
              <a:ext uri="{FF2B5EF4-FFF2-40B4-BE49-F238E27FC236}">
                <a16:creationId xmlns:a16="http://schemas.microsoft.com/office/drawing/2014/main" id="{F7931C37-EE25-3BFF-2295-4DCBF22F8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4195763"/>
            <a:ext cx="15113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1400" b="0" dirty="0">
                <a:solidFill>
                  <a:schemeClr val="bg1"/>
                </a:solidFill>
                <a:latin typeface="HP Simplified Light" panose="020B0404020204020204" pitchFamily="34" charset="0"/>
              </a:rPr>
              <a:t>Istruzione</a:t>
            </a:r>
          </a:p>
        </p:txBody>
      </p:sp>
      <p:sp>
        <p:nvSpPr>
          <p:cNvPr id="20" name="Triangolo isoscele 19">
            <a:extLst>
              <a:ext uri="{FF2B5EF4-FFF2-40B4-BE49-F238E27FC236}">
                <a16:creationId xmlns:a16="http://schemas.microsoft.com/office/drawing/2014/main" id="{2AD18E3D-8927-4CE4-3E8F-40B47BB6B607}"/>
              </a:ext>
            </a:extLst>
          </p:cNvPr>
          <p:cNvSpPr/>
          <p:nvPr/>
        </p:nvSpPr>
        <p:spPr>
          <a:xfrm rot="10800000">
            <a:off x="5148263" y="2779713"/>
            <a:ext cx="1655762" cy="1693862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 sz="1400" b="0" dirty="0">
              <a:latin typeface="HP Simplified Light" panose="020B0404020204020204" pitchFamily="34" charset="0"/>
            </a:endParaRPr>
          </a:p>
        </p:txBody>
      </p:sp>
      <p:sp>
        <p:nvSpPr>
          <p:cNvPr id="21" name="Text Box 8">
            <a:extLst>
              <a:ext uri="{FF2B5EF4-FFF2-40B4-BE49-F238E27FC236}">
                <a16:creationId xmlns:a16="http://schemas.microsoft.com/office/drawing/2014/main" id="{71DDBF2A-7FDB-E251-DB02-0CBF87AA3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2827338"/>
            <a:ext cx="15128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1400" b="0">
                <a:solidFill>
                  <a:schemeClr val="bg1"/>
                </a:solidFill>
                <a:latin typeface="HP Simplified Light" panose="020B0404020204020204" pitchFamily="34" charset="0"/>
              </a:rPr>
              <a:t>Protezione sociale e sicurezza</a:t>
            </a:r>
          </a:p>
        </p:txBody>
      </p:sp>
      <p:sp>
        <p:nvSpPr>
          <p:cNvPr id="22" name="Triangolo isoscele 21">
            <a:extLst>
              <a:ext uri="{FF2B5EF4-FFF2-40B4-BE49-F238E27FC236}">
                <a16:creationId xmlns:a16="http://schemas.microsoft.com/office/drawing/2014/main" id="{6BE3E94A-61FE-D91A-9825-555E9D9FF9CC}"/>
              </a:ext>
            </a:extLst>
          </p:cNvPr>
          <p:cNvSpPr/>
          <p:nvPr/>
        </p:nvSpPr>
        <p:spPr>
          <a:xfrm>
            <a:off x="5148263" y="1031875"/>
            <a:ext cx="1655762" cy="1692275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 sz="1400" b="0" dirty="0">
              <a:latin typeface="HP Simplified Light" panose="020B0404020204020204" pitchFamily="34" charset="0"/>
            </a:endParaRPr>
          </a:p>
        </p:txBody>
      </p:sp>
      <p:sp>
        <p:nvSpPr>
          <p:cNvPr id="23" name="Text Box 8">
            <a:extLst>
              <a:ext uri="{FF2B5EF4-FFF2-40B4-BE49-F238E27FC236}">
                <a16:creationId xmlns:a16="http://schemas.microsoft.com/office/drawing/2014/main" id="{1965DCF1-1A8F-83C2-366F-5C6905B1F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1988840"/>
            <a:ext cx="1512888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1400" b="0" dirty="0">
                <a:solidFill>
                  <a:schemeClr val="bg1"/>
                </a:solidFill>
                <a:latin typeface="HP Simplified Light" panose="020B0404020204020204" pitchFamily="34" charset="0"/>
              </a:rPr>
              <a:t>Salute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it-IT" altLang="it-IT" sz="1400" b="0" dirty="0">
                <a:solidFill>
                  <a:schemeClr val="bg1"/>
                </a:solidFill>
                <a:latin typeface="HP Simplified Light" panose="020B0404020204020204" pitchFamily="34" charset="0"/>
              </a:rPr>
              <a:t>abilitazione riabilitazione</a:t>
            </a:r>
          </a:p>
        </p:txBody>
      </p: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09E0902B-9A78-C861-DE34-45A057F9A3D8}"/>
              </a:ext>
            </a:extLst>
          </p:cNvPr>
          <p:cNvCxnSpPr/>
          <p:nvPr/>
        </p:nvCxnSpPr>
        <p:spPr>
          <a:xfrm>
            <a:off x="0" y="4540250"/>
            <a:ext cx="9144000" cy="0"/>
          </a:xfrm>
          <a:prstGeom prst="line">
            <a:avLst/>
          </a:prstGeom>
          <a:ln>
            <a:solidFill>
              <a:srgbClr val="489C7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tangolo 7">
            <a:extLst>
              <a:ext uri="{FF2B5EF4-FFF2-40B4-BE49-F238E27FC236}">
                <a16:creationId xmlns:a16="http://schemas.microsoft.com/office/drawing/2014/main" id="{6847E56E-2513-5849-40DF-8CF01C806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495222"/>
            <a:ext cx="38893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  <a:sym typeface="Rockwell" panose="02060603020205020403" pitchFamily="18" charset="0"/>
              </a:rPr>
              <a:t>I </a:t>
            </a: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bisogni primari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 sono 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  <a:sym typeface="Rockwell" panose="02060603020205020403" pitchFamily="18" charset="0"/>
              </a:rPr>
              <a:t>i bisogni fondamentali per il godimento dei diritti.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  <a:sym typeface="Rockwell" panose="02060603020205020403" pitchFamily="18" charset="0"/>
              </a:rPr>
              <a:t>Invece, </a:t>
            </a: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  <a:sym typeface="Rockwell" panose="02060603020205020403" pitchFamily="18" charset="0"/>
              </a:rPr>
              <a:t>le </a:t>
            </a: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l</a:t>
            </a: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  <a:sym typeface="Rockwell" panose="02060603020205020403" pitchFamily="18" charset="0"/>
              </a:rPr>
              <a:t>ibertà fondamentali</a:t>
            </a: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 </a:t>
            </a: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  <a:sym typeface="Rockwell" panose="02060603020205020403" pitchFamily="18" charset="0"/>
              </a:rPr>
              <a:t>sono necessarie per implementare i bisogni primari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  <a:sym typeface="Rockwell" panose="02060603020205020403" pitchFamily="18" charset="0"/>
              </a:rPr>
              <a:t>, garantendo lo sviluppo necessario ad aumentare le capacità che consentono alle persone con disabilità di vivere in condizioni migliori.</a:t>
            </a:r>
            <a:endParaRPr lang="en-US" altLang="it-IT" sz="1400" b="0" dirty="0">
              <a:solidFill>
                <a:srgbClr val="489C72"/>
              </a:solidFill>
              <a:latin typeface="HP Simplified Light" panose="020B0404020204020204" pitchFamily="34" charset="0"/>
              <a:sym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536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47E5F-0E35-3861-BB3B-65F566B4F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BEE2303F-674A-9C5D-7EED-C950C26BD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56205"/>
            <a:ext cx="79025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Disability-Adjusted</a:t>
            </a:r>
            <a:r>
              <a:rPr lang="it-IT" altLang="it-IT" sz="18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 Life Years (</a:t>
            </a:r>
            <a:r>
              <a:rPr lang="it-IT" altLang="it-IT" sz="1800" b="1" dirty="0" err="1">
                <a:solidFill>
                  <a:srgbClr val="489C72"/>
                </a:solidFill>
                <a:latin typeface="HP Simplified Light" panose="020B0404020204020204" pitchFamily="34" charset="0"/>
              </a:rPr>
              <a:t>DALYs</a:t>
            </a:r>
            <a:r>
              <a:rPr lang="it-IT" altLang="it-IT" sz="18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)</a:t>
            </a:r>
          </a:p>
        </p:txBody>
      </p:sp>
      <p:sp>
        <p:nvSpPr>
          <p:cNvPr id="6" name="Segnaposto numero diapositiva 1">
            <a:extLst>
              <a:ext uri="{FF2B5EF4-FFF2-40B4-BE49-F238E27FC236}">
                <a16:creationId xmlns:a16="http://schemas.microsoft.com/office/drawing/2014/main" id="{B34A9CA6-258B-77AD-0E10-2AC98AC1D1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301" y="6381753"/>
            <a:ext cx="476251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32" indent="-285744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2971" indent="-228594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160" indent="-228594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349" indent="-228594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EEE90F7C-DB35-4B19-AB0F-94BF8DC618DB}" type="slidenum">
              <a:rPr lang="it-IT" altLang="it-IT" sz="1800" b="1">
                <a:solidFill>
                  <a:srgbClr val="489C72"/>
                </a:solidFill>
                <a:latin typeface="HP Simplified Light" panose="020B0404020204020204" pitchFamily="34" charset="0"/>
              </a:rPr>
              <a:pPr algn="ctr">
                <a:spcBef>
                  <a:spcPct val="0"/>
                </a:spcBef>
                <a:buFontTx/>
                <a:buNone/>
              </a:pPr>
              <a:t>18</a:t>
            </a:fld>
            <a:endParaRPr lang="it-IT" altLang="it-IT" sz="2000" b="1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B06252D5-D81A-A951-BFBD-D3A216573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7018"/>
            <a:ext cx="7902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Adolfo F.L. Baratta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dirty="0">
                <a:solidFill>
                  <a:srgbClr val="489C72"/>
                </a:solidFill>
                <a:latin typeface="HP Simplified Light" panose="020B0404020204020204" pitchFamily="34" charset="0"/>
              </a:rPr>
              <a:t>Sulla disabilità</a:t>
            </a:r>
          </a:p>
        </p:txBody>
      </p:sp>
      <p:sp>
        <p:nvSpPr>
          <p:cNvPr id="2" name="Text Box 8">
            <a:extLst>
              <a:ext uri="{FF2B5EF4-FFF2-40B4-BE49-F238E27FC236}">
                <a16:creationId xmlns:a16="http://schemas.microsoft.com/office/drawing/2014/main" id="{F611A4B8-EAD4-BC77-3F33-465068208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497484"/>
            <a:ext cx="7902575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L’Anno di vita corretto per disabilità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, introdotto nel 1990 da Christopher J. L. Murray per l'Organizzazione Mondiale della Sanità e per la Banca Mondiale, è un’unità di misura sociale utilizzata nell’economia sanitaria.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Rappresenta il “carico” di una malattia, espressa come </a:t>
            </a:r>
            <a:r>
              <a:rPr 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il numero di anni persi a causa della cattiva salute, della disabilità o di un decesso precoce</a:t>
            </a: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.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Il numero totale di DALY nell’ambito di una popolazione può essere considerato come una misura della differenza tra lo stato di salute attuale della popolazione e una situazione ideale in cui ogni persona gode di perfetta salute fino a tarda età.</a:t>
            </a:r>
            <a:endParaRPr lang="it-IT" altLang="it-IT" sz="1400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La condizione di cattiva salute viene espressa utilizzando gli </a:t>
            </a: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anni di vita persi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 (YLL) per via della morte prematura e gli anni persi a causa </a:t>
            </a:r>
            <a:r>
              <a:rPr lang="it-IT" altLang="it-IT" sz="1400" dirty="0">
                <a:solidFill>
                  <a:srgbClr val="489C72"/>
                </a:solidFill>
                <a:latin typeface="HP Simplified Light" panose="020B0404020204020204" pitchFamily="34" charset="0"/>
              </a:rPr>
              <a:t>della gravità di vivere con una malattia o una determinata disabilità </a:t>
            </a: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(YLD).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A6C0E4B-5C6F-FDD2-73BB-C902FA08E8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0" b="5440"/>
          <a:stretch/>
        </p:blipFill>
        <p:spPr bwMode="auto">
          <a:xfrm>
            <a:off x="620713" y="4014564"/>
            <a:ext cx="7893050" cy="2294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3190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18D01-7957-B1ED-7B21-166F18B28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39F613D2-170B-96B9-5E06-8056AB1BE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56205"/>
            <a:ext cx="790257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Incidenza degli aspetti ambientali e sociali</a:t>
            </a:r>
          </a:p>
        </p:txBody>
      </p:sp>
      <p:sp>
        <p:nvSpPr>
          <p:cNvPr id="27651" name="Segnaposto numero diapositiva 1">
            <a:extLst>
              <a:ext uri="{FF2B5EF4-FFF2-40B4-BE49-F238E27FC236}">
                <a16:creationId xmlns:a16="http://schemas.microsoft.com/office/drawing/2014/main" id="{3DE68685-926F-362C-FC24-0547A80FF5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301" y="6381753"/>
            <a:ext cx="476251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32" indent="-285744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2971" indent="-228594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160" indent="-228594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349" indent="-228594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EEE90F7C-DB35-4B19-AB0F-94BF8DC618DB}" type="slidenum">
              <a:rPr lang="it-IT" altLang="it-IT" sz="1800" b="1">
                <a:solidFill>
                  <a:srgbClr val="489C72"/>
                </a:solidFill>
                <a:latin typeface="HP Simplified Light" panose="020B0404020204020204" pitchFamily="34" charset="0"/>
              </a:rPr>
              <a:pPr algn="ctr">
                <a:spcBef>
                  <a:spcPct val="0"/>
                </a:spcBef>
                <a:buFontTx/>
                <a:buNone/>
              </a:pPr>
              <a:t>19</a:t>
            </a:fld>
            <a:endParaRPr lang="it-IT" altLang="it-IT" sz="2000" b="1" dirty="0">
              <a:solidFill>
                <a:srgbClr val="489C72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BDD2D3D1-7F25-5CE0-905E-75F9F5269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7018"/>
            <a:ext cx="7902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Adolfo F.L. Baratta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it-IT" altLang="it-IT" sz="1200" dirty="0">
                <a:solidFill>
                  <a:srgbClr val="489C72"/>
                </a:solidFill>
                <a:latin typeface="HP Simplified Light" panose="020B0404020204020204" pitchFamily="34" charset="0"/>
              </a:rPr>
              <a:t>Sulla disabilità</a:t>
            </a:r>
          </a:p>
        </p:txBody>
      </p:sp>
      <p:sp>
        <p:nvSpPr>
          <p:cNvPr id="2" name="Text Box 8">
            <a:extLst>
              <a:ext uri="{FF2B5EF4-FFF2-40B4-BE49-F238E27FC236}">
                <a16:creationId xmlns:a16="http://schemas.microsoft.com/office/drawing/2014/main" id="{8CCAA210-6DC5-7A11-E648-EFB3E4913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6067831"/>
            <a:ext cx="387032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it-IT" altLang="it-IT" sz="1000" b="0" i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Fonte: World Bank Group, 2018</a:t>
            </a:r>
          </a:p>
        </p:txBody>
      </p:sp>
      <p:pic>
        <p:nvPicPr>
          <p:cNvPr id="3" name="Immagine 2" descr="Immagine che contiene blu, tavolo, sedendo, piccolo&#10;&#10;Descrizione generata automaticamente">
            <a:extLst>
              <a:ext uri="{FF2B5EF4-FFF2-40B4-BE49-F238E27FC236}">
                <a16:creationId xmlns:a16="http://schemas.microsoft.com/office/drawing/2014/main" id="{1D344DAD-5552-FE26-7E99-8704BEEDC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2177950"/>
            <a:ext cx="3143250" cy="314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8">
            <a:extLst>
              <a:ext uri="{FF2B5EF4-FFF2-40B4-BE49-F238E27FC236}">
                <a16:creationId xmlns:a16="http://schemas.microsoft.com/office/drawing/2014/main" id="{91BE5B47-85EF-0C27-8BF0-A333C73DC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699" y="1498424"/>
            <a:ext cx="3294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it-IT" altLang="it-IT" sz="1400" b="1" dirty="0">
                <a:solidFill>
                  <a:srgbClr val="489C72"/>
                </a:solidFill>
                <a:latin typeface="HP Simplified Light" panose="020B0404020204020204" pitchFamily="34" charset="0"/>
              </a:rPr>
              <a:t>80% di persone con disabilità vivono in Paesi in via di sviluppo</a:t>
            </a: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F068845F-3DD0-D744-3B39-6A4E37EA5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915" y="2199481"/>
            <a:ext cx="28709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Il tasso di occupazione per le persone con disabilità è del 70% inferiore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79508715-3561-DEB5-D8CE-0368A9A02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6136" y="4725144"/>
            <a:ext cx="27172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Il 15% della popolazione mondiale vive con qualche forma di disabilità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AFBF8281-202E-F71C-06F9-3CB9169DC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7" y="5301208"/>
            <a:ext cx="2880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it-IT" altLang="it-IT" sz="1400" b="0" dirty="0">
                <a:solidFill>
                  <a:srgbClr val="489C72"/>
                </a:solidFill>
                <a:latin typeface="HP Simplified Light" panose="020B0404020204020204" pitchFamily="34" charset="0"/>
              </a:rPr>
              <a:t>Il 35% dei bambini che non vanno a scuola presentano una disabilità</a:t>
            </a:r>
          </a:p>
        </p:txBody>
      </p:sp>
    </p:spTree>
    <p:extLst>
      <p:ext uri="{BB962C8B-B14F-4D97-AF65-F5344CB8AC3E}">
        <p14:creationId xmlns:p14="http://schemas.microsoft.com/office/powerpoint/2010/main" val="131477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9C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CF0FE5-82C1-E80C-FC6F-360242EF0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BB287070-CA7D-313A-33E3-236458634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509" y="3329548"/>
            <a:ext cx="7902203" cy="275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None/>
            </a:pPr>
            <a:r>
              <a:rPr lang="it-IT" altLang="it-IT" sz="3500" b="1" dirty="0">
                <a:solidFill>
                  <a:schemeClr val="bg1"/>
                </a:solidFill>
                <a:latin typeface="HP Simplified Light" panose="020B0404020204020204" pitchFamily="34" charset="0"/>
                <a:cs typeface="Times New Roman" panose="02020603050405020304" pitchFamily="18" charset="0"/>
              </a:rPr>
              <a:t>Grazie per l’attenzione</a:t>
            </a:r>
          </a:p>
          <a:p>
            <a:pPr algn="just" eaLnBrk="1" hangingPunct="1">
              <a:spcBef>
                <a:spcPct val="0"/>
              </a:spcBef>
              <a:buNone/>
            </a:pPr>
            <a:endParaRPr lang="it-IT" altLang="it-IT" sz="1800" dirty="0">
              <a:solidFill>
                <a:schemeClr val="bg1"/>
              </a:solidFill>
              <a:latin typeface="HP Simplified Light" panose="020B040402020402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None/>
            </a:pPr>
            <a:endParaRPr lang="it-IT" altLang="it-IT" sz="1800" dirty="0">
              <a:solidFill>
                <a:schemeClr val="bg1"/>
              </a:solidFill>
              <a:latin typeface="HP Simplified Light" panose="020B040402020402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None/>
            </a:pPr>
            <a:endParaRPr lang="it-IT" altLang="it-IT" sz="1800" dirty="0">
              <a:solidFill>
                <a:schemeClr val="bg1"/>
              </a:solidFill>
              <a:latin typeface="HP Simplified Light" panose="020B040402020402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None/>
            </a:pPr>
            <a:endParaRPr lang="it-IT" altLang="it-IT" sz="1800" dirty="0">
              <a:solidFill>
                <a:schemeClr val="bg1"/>
              </a:solidFill>
              <a:latin typeface="HP Simplified Light" panose="020B040402020402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None/>
            </a:pPr>
            <a:endParaRPr lang="it-IT" altLang="it-IT" sz="1800" dirty="0">
              <a:solidFill>
                <a:schemeClr val="bg1"/>
              </a:solidFill>
              <a:latin typeface="HP Simplified Light" panose="020B0404020204020204" pitchFamily="34" charset="0"/>
              <a:cs typeface="Times New Roman" panose="02020603050405020304" pitchFamily="18" charset="0"/>
            </a:endParaRPr>
          </a:p>
          <a:p>
            <a:pPr algn="r" eaLnBrk="1" hangingPunct="1">
              <a:spcBef>
                <a:spcPct val="0"/>
              </a:spcBef>
              <a:buNone/>
            </a:pPr>
            <a:r>
              <a:rPr lang="it-IT" altLang="it-IT" sz="1600" dirty="0">
                <a:solidFill>
                  <a:schemeClr val="bg1"/>
                </a:solidFill>
                <a:latin typeface="HP Simplified Light" panose="020B0404020204020204" pitchFamily="34" charset="0"/>
                <a:cs typeface="Times New Roman" panose="02020603050405020304" pitchFamily="18" charset="0"/>
              </a:rPr>
              <a:t>Adolfo F.L. Baratta</a:t>
            </a:r>
          </a:p>
          <a:p>
            <a:pPr algn="r" eaLnBrk="1" hangingPunct="1">
              <a:spcBef>
                <a:spcPct val="0"/>
              </a:spcBef>
              <a:buNone/>
            </a:pPr>
            <a:r>
              <a:rPr lang="it-IT" altLang="it-IT" sz="1600" dirty="0">
                <a:solidFill>
                  <a:schemeClr val="bg1"/>
                </a:solidFill>
                <a:latin typeface="HP Simplified Light" panose="020B0404020204020204" pitchFamily="34" charset="0"/>
                <a:cs typeface="Times New Roman" panose="02020603050405020304" pitchFamily="18" charset="0"/>
              </a:rPr>
              <a:t>Università degli Studi Roma Tre</a:t>
            </a:r>
          </a:p>
          <a:p>
            <a:pPr algn="r" eaLnBrk="1" hangingPunct="1">
              <a:spcBef>
                <a:spcPct val="0"/>
              </a:spcBef>
              <a:buNone/>
            </a:pPr>
            <a:r>
              <a:rPr lang="it-IT" altLang="it-IT" sz="1600" dirty="0">
                <a:solidFill>
                  <a:schemeClr val="bg1"/>
                </a:solidFill>
                <a:latin typeface="HP Simplified Light" panose="020B0404020204020204" pitchFamily="34" charset="0"/>
                <a:cs typeface="Times New Roman" panose="02020603050405020304" pitchFamily="18" charset="0"/>
              </a:rPr>
              <a:t>adolfo.baratta@uniroma3.it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DA4E01D-33C6-E0F6-B456-9407D1B671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75" t="16657" r="11801" b="45170"/>
          <a:stretch/>
        </p:blipFill>
        <p:spPr>
          <a:xfrm>
            <a:off x="3779912" y="289157"/>
            <a:ext cx="4733849" cy="119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36706"/>
      </p:ext>
    </p:extLst>
  </p:cSld>
  <p:clrMapOvr>
    <a:masterClrMapping/>
  </p:clrMapOvr>
</p:sld>
</file>

<file path=ppt/theme/theme1.xml><?xml version="1.0" encoding="utf-8"?>
<a:theme xmlns:a="http://schemas.openxmlformats.org/drawingml/2006/main" name="Struttura predefinita">
  <a:themeElements>
    <a:clrScheme name="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10888</TotalTime>
  <Words>1843</Words>
  <Application>Microsoft Office PowerPoint</Application>
  <PresentationFormat>Presentazione su schermo (4:3)</PresentationFormat>
  <Paragraphs>218</Paragraphs>
  <Slides>20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5" baseType="lpstr">
      <vt:lpstr>Arial</vt:lpstr>
      <vt:lpstr>Times New Roman</vt:lpstr>
      <vt:lpstr>Calibri</vt:lpstr>
      <vt:lpstr>HP Simplified Light</vt:lpstr>
      <vt:lpstr>Struttura predefinita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Baratta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Prestazioni termiche ed acustiche</dc:title>
  <dc:creator>adolfo</dc:creator>
  <cp:lastModifiedBy>Adolfo Francesco Lucio Baratta</cp:lastModifiedBy>
  <cp:revision>583</cp:revision>
  <dcterms:created xsi:type="dcterms:W3CDTF">2002-06-01T16:10:31Z</dcterms:created>
  <dcterms:modified xsi:type="dcterms:W3CDTF">2025-05-09T09:28:45Z</dcterms:modified>
</cp:coreProperties>
</file>